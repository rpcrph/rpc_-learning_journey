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v>Pixel-level AUROC</c:v>
          </c:tx>
          <c:spPr>
            <a:ln w="38100">
              <a:solidFill>
                <a:srgbClr val="3D8DFF"/>
              </a:solidFill>
              <a:prstDash val="solid"/>
            </a:ln>
          </c:spPr>
          <c:marker>
            <c:symbol val="circle"/>
            <c:size val="9"/>
          </c:marker>
          <c:cat>
            <c:strLit>
              <c:ptCount val="4"/>
              <c:pt idx="0">
                <c:v>2-shot</c:v>
              </c:pt>
              <c:pt idx="1">
                <c:v>16-shot</c:v>
              </c:pt>
              <c:pt idx="2">
                <c:v>64-shot</c:v>
              </c:pt>
              <c:pt idx="3">
                <c:v>Full</c:v>
              </c:pt>
            </c:strLit>
          </c:cat>
          <c:val>
            <c:numLit>
              <c:formatCode>General</c:formatCode>
              <c:ptCount val="4"/>
              <c:pt idx="0">
                <c:v>92</c:v>
              </c:pt>
              <c:pt idx="1">
                <c:v>92.6</c:v>
              </c:pt>
              <c:pt idx="2">
                <c:v>92.8</c:v>
              </c:pt>
              <c:pt idx="3">
                <c:v>93.4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C0A3-4816-8453-0827541B775B}"/>
            </c:ext>
          </c:extLst>
        </c:ser>
        <c:ser>
          <c:idx val="1"/>
          <c:order val="1"/>
          <c:tx>
            <c:v>Image-level AUROC</c:v>
          </c:tx>
          <c:spPr>
            <a:ln w="38100">
              <a:solidFill>
                <a:srgbClr val="6DCBF4"/>
              </a:solidFill>
              <a:prstDash val="solid"/>
            </a:ln>
          </c:spPr>
          <c:marker>
            <c:symbol val="diamond"/>
            <c:size val="9"/>
          </c:marker>
          <c:cat>
            <c:strLit>
              <c:ptCount val="4"/>
              <c:pt idx="0">
                <c:v>2-shot</c:v>
              </c:pt>
              <c:pt idx="1">
                <c:v>16-shot</c:v>
              </c:pt>
              <c:pt idx="2">
                <c:v>64-shot</c:v>
              </c:pt>
              <c:pt idx="3">
                <c:v>Full</c:v>
              </c:pt>
            </c:strLit>
          </c:cat>
          <c:val>
            <c:numLit>
              <c:formatCode>General</c:formatCode>
              <c:ptCount val="4"/>
              <c:pt idx="0">
                <c:v>78.099999999999994</c:v>
              </c:pt>
              <c:pt idx="1">
                <c:v>81.8</c:v>
              </c:pt>
              <c:pt idx="2">
                <c:v>83.1</c:v>
              </c:pt>
              <c:pt idx="3">
                <c:v>82.5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C0A3-4816-8453-0827541B77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B8BCC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111111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95"/>
          <c:min val="75"/>
        </c:scaling>
        <c:delete val="0"/>
        <c:axPos val="l"/>
        <c:majorGridlines>
          <c:spPr>
            <a:ln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/>
                  <a:t>Average AUROC (%)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111111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5"/>
      </c:valAx>
      <c:spPr>
        <a:noFill/>
        <a:ln w="0">
          <a:solidFill>
            <a:srgbClr val="FFFFFF"/>
          </a:solidFill>
          <a:prstDash val="solid"/>
        </a:ln>
      </c:spPr>
    </c:plotArea>
    <c:legend>
      <c:legendPos val="b"/>
      <c:overlay val="0"/>
      <c:txPr>
        <a:bodyPr anchorCtr="1"/>
        <a:lstStyle/>
        <a:p>
          <a:pPr>
            <a:defRPr sz="1200">
              <a:solidFill>
                <a:srgbClr val="111111"/>
              </a:solidFill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research plan and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research plan and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https://arxiv.org/abs/2503.06661 (reported hardware and training configuration)</a:t>
            </a:r>
          </a:p>
          <a:p>
            <a:r>
              <a:t>- https://github.com/Mwxinnn/AA-CLIP</a:t>
            </a:r>
          </a:p>
          <a:p>
            <a:r>
              <a:t>- Presenter local reproduction record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research plan and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Presenter research plan and local reproduction record</a:t>
            </a:r>
          </a:p>
          <a:p>
            <a:r>
              <a:t>- https://github.com/Mwxinnn/AA-CLIP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F5918A-FF8E-49EB-83DB-434A4BEA586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WEDNESDAY GROUP MEETING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6A857F-8C37-4F40-8771-ACDF38DF0E33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000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组内周三小汇报</a:t>
            </a:r>
            <a:endParaRPr sz="35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35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AA-CLIP </a:t>
            </a:r>
            <a:r>
              <a:rPr sz="352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研读、复现与方向思考</a:t>
            </a:r>
            <a:endParaRPr sz="352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C753728-DEFC-49C2-B8FC-4FD76434C780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C04157-7FD2-4C05-9554-6748E9CEB7B8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论文研读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D0F1D1-183D-4653-9968-11D04B2BF4A4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AA-CLIP 方法、实验与边界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4C79E-BC70-40AB-8D92-1ACE5439B7D0}"/>
              </a:ext>
            </a:extLst>
          </p:cNvPr>
          <p:cNvSpPr>
            <a:spLocks noGrp="1"/>
          </p:cNvSpPr>
          <p:nvPr/>
        </p:nvSpPr>
        <p:spPr>
          <a:xfrm>
            <a:off x="422910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复现进展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9448EA-7DFD-402C-A00B-F750A50A6DBE}"/>
              </a:ext>
            </a:extLst>
          </p:cNvPr>
          <p:cNvSpPr>
            <a:spLocks noGrp="1"/>
          </p:cNvSpPr>
          <p:nvPr/>
        </p:nvSpPr>
        <p:spPr>
          <a:xfrm>
            <a:off x="422910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CPU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闭环完成；DirectML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边界已定位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FD934F-33A8-4312-927C-D1883A374A61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未来方向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11953F-6B24-42B3-8B10-937CB4D67E71}"/>
              </a:ext>
            </a:extLst>
          </p:cNvPr>
          <p:cNvSpPr>
            <a:spLocks noGrp="1"/>
          </p:cNvSpPr>
          <p:nvPr/>
        </p:nvSpPr>
        <p:spPr>
          <a:xfrm>
            <a:off x="805815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面向视觉 / 多模态模型的性能优化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93521E8-F080-42B9-A592-51A31608264C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1391900" cy="971550"/>
          </a:xfrm>
          <a:prstGeom prst="roundRect">
            <a:avLst>
              <a:gd name="adj" fmla="val 15686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6ADF1E-6863-438E-9169-EC530FD2DFC2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10934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当前任务：建立可信复现基线</a:t>
            </a:r>
            <a:endParaRPr sz="157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ctr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长期目标：提升准确率、效率、泛化与鲁棒性</a:t>
            </a:r>
            <a:endParaRPr sz="157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914A02-3861-4524-B387-FEB8A262503D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汇报人：Rpc</a:t>
            </a:r>
            <a:r>
              <a:rPr sz="9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· 2026-08-1</a:t>
            </a:r>
            <a:r>
              <a:rPr lang="en-US" sz="9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975" b="0" dirty="0">
              <a:solidFill>
                <a:srgbClr val="5F66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081869-4BD2-43EB-ADAA-D3A129E17FC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21609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CONTENTS · REPORT STRUCTURE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论文研读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Paper Review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研究问题、两阶段适配、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实验结果与方法边界。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复现进展</a:t>
            </a:r>
            <a:endParaRPr sz="18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Reproduction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资料准备、CPU 闭环、工程修复、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DML 边界与 CUDA 计划。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未来方向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Model Optimization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不限定工业场景，围绕精度、效率、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泛化与鲁棒性开展优化。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AA-CLIP 是当前复现基线与实验载体，不是未来研究场景的限制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15F21F4-47AA-4454-8D73-0F7F4CFB89C3}"/>
              </a:ext>
            </a:extLst>
          </p:cNvPr>
          <p:cNvSpPr>
            <a:spLocks noGrp="1"/>
          </p:cNvSpPr>
          <p:nvPr/>
        </p:nvSpPr>
        <p:spPr>
          <a:xfrm>
            <a:off x="400050" y="304800"/>
            <a:ext cx="59055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PAPER REVIEW · REPRODUCTION STATUS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97A8F70-A86E-4EE2-B427-859F28E837D8}"/>
              </a:ext>
            </a:extLst>
          </p:cNvPr>
          <p:cNvSpPr>
            <a:spLocks noGrp="1"/>
          </p:cNvSpPr>
          <p:nvPr/>
        </p:nvSpPr>
        <p:spPr>
          <a:xfrm>
            <a:off x="400050" y="685800"/>
            <a:ext cx="80010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AA-CLIP 论文研读与复现汇报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1F45F1B-5B27-492A-9D4A-E483028A9FF5}"/>
              </a:ext>
            </a:extLst>
          </p:cNvPr>
          <p:cNvSpPr>
            <a:spLocks noGrp="1"/>
          </p:cNvSpPr>
          <p:nvPr/>
        </p:nvSpPr>
        <p:spPr>
          <a:xfrm>
            <a:off x="400050" y="1352550"/>
            <a:ext cx="104775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9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从双语论文转述、CPU</a:t>
            </a:r>
            <a:r>
              <a:rPr sz="1950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冒烟验证</a:t>
            </a:r>
            <a:endParaRPr sz="1950" b="0" dirty="0">
              <a:solidFill>
                <a:srgbClr val="5F6672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950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到 </a:t>
            </a:r>
            <a:r>
              <a:rPr sz="1950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DirectML</a:t>
            </a:r>
            <a:r>
              <a:rPr sz="1950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950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边界定位与</a:t>
            </a:r>
            <a:r>
              <a:rPr sz="1950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CUDA </a:t>
            </a:r>
            <a:r>
              <a:rPr sz="1950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复现计划</a:t>
            </a:r>
            <a:endParaRPr sz="1950" b="0" dirty="0">
              <a:solidFill>
                <a:srgbClr val="5F66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78B19FFF-BF6E-468B-B918-5E389C5197A9}"/>
              </a:ext>
            </a:extLst>
          </p:cNvPr>
          <p:cNvSpPr>
            <a:spLocks noGrp="1"/>
          </p:cNvSpPr>
          <p:nvPr/>
        </p:nvSpPr>
        <p:spPr>
          <a:xfrm>
            <a:off x="400050" y="2324100"/>
            <a:ext cx="11391900" cy="3390900"/>
          </a:xfrm>
          <a:prstGeom prst="roundRect">
            <a:avLst>
              <a:gd name="adj" fmla="val 5056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36625" y="2457450"/>
            <a:ext cx="10318750" cy="309562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3F8A2177-309F-402A-AEB2-500141BEB028}"/>
              </a:ext>
            </a:extLst>
          </p:cNvPr>
          <p:cNvSpPr>
            <a:spLocks noGrp="1"/>
          </p:cNvSpPr>
          <p:nvPr/>
        </p:nvSpPr>
        <p:spPr>
          <a:xfrm>
            <a:off x="400050" y="5962650"/>
            <a:ext cx="100012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Wenxin Ma et al. · CVPR 2025    |    </a:t>
            </a:r>
            <a:r>
              <a:rPr sz="120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汇报人：Rpc</a:t>
            </a:r>
            <a:r>
              <a:rPr sz="12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   |    2026-08-1</a:t>
            </a:r>
            <a:r>
              <a:rPr lang="en-US" sz="120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200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1F0A8F-2FED-4DF4-9543-8965A726F493}"/>
              </a:ext>
            </a:extLst>
          </p:cNvPr>
          <p:cNvSpPr>
            <a:spLocks noGrp="1"/>
          </p:cNvSpPr>
          <p:nvPr/>
        </p:nvSpPr>
        <p:spPr>
          <a:xfrm>
            <a:off x="400050" y="6324600"/>
            <a:ext cx="476250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阶段性成果汇报 / Progress report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A92BC79-D2C1-473D-BEF0-8C0865420EFD}"/>
              </a:ext>
            </a:extLst>
          </p:cNvPr>
          <p:cNvSpPr>
            <a:spLocks noGrp="1"/>
          </p:cNvSpPr>
          <p:nvPr/>
        </p:nvSpPr>
        <p:spPr>
          <a:xfrm>
            <a:off x="8382000" y="6324600"/>
            <a:ext cx="3409950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原论文 Fig. 1（裁剪与缩放，CC BY 4.0）</a:t>
            </a:r>
          </a:p>
        </p:txBody>
      </p:sp>
    </p:spTree>
    <p:extLst>
      <p:ext uri="{BB962C8B-B14F-4D97-AF65-F5344CB8AC3E}">
        <p14:creationId xmlns:p14="http://schemas.microsoft.com/office/powerpoint/2010/main" val="1484597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D16EF951-DE6E-4286-BCC7-81C5C11AE8D3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PROBLEM · ANOMALY UNAWARENESS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7ECCA8E-7EB1-45B0-BC0D-9E626B53DD8C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CLIP </a:t>
            </a:r>
            <a:r>
              <a:rPr sz="25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认识对象，却未必认识“异常</a:t>
            </a:r>
            <a:r>
              <a:rPr sz="25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”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63B51DA-FD1A-41EF-B6D5-BD50F57470D0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7CF0020-8393-4CD2-B594-DA05DA44C25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BB7AC9-3AB1-456B-9A51-2D0C5B4A05B1}"/>
              </a:ext>
            </a:extLst>
          </p:cNvPr>
          <p:cNvSpPr>
            <a:spLocks noGrp="1"/>
          </p:cNvSpPr>
          <p:nvPr/>
        </p:nvSpPr>
        <p:spPr>
          <a:xfrm>
            <a:off x="400050" y="1466850"/>
            <a:ext cx="4953000" cy="781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CLIP knows objects,</a:t>
            </a:r>
          </a:p>
          <a:p>
            <a:pPr algn="l">
              <a:buNone/>
              <a:def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not failures.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47E4157-A2DD-410A-841A-350634755ED5}"/>
              </a:ext>
            </a:extLst>
          </p:cNvPr>
          <p:cNvSpPr>
            <a:spLocks noGrp="1"/>
          </p:cNvSpPr>
          <p:nvPr/>
        </p:nvSpPr>
        <p:spPr>
          <a:xfrm>
            <a:off x="400050" y="2400300"/>
            <a:ext cx="48577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</a:t>
            </a:r>
            <a:r>
              <a:rPr sz="16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CLIP </a:t>
            </a:r>
            <a:r>
              <a:rPr sz="16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的正常与异常提示在文本空间中高度相似，明显缺陷也可能更接近“正常”描述</a:t>
            </a:r>
            <a:r>
              <a:rPr sz="16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A07C6B45-FC7A-4FD2-BA0F-5F721D476B27}"/>
              </a:ext>
            </a:extLst>
          </p:cNvPr>
          <p:cNvSpPr>
            <a:spLocks noGrp="1"/>
          </p:cNvSpPr>
          <p:nvPr/>
        </p:nvSpPr>
        <p:spPr>
          <a:xfrm>
            <a:off x="400050" y="36195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A8D3DE6-332B-4E1F-8A50-AEB0A62D2B67}"/>
              </a:ext>
            </a:extLst>
          </p:cNvPr>
          <p:cNvSpPr>
            <a:spLocks noGrp="1"/>
          </p:cNvSpPr>
          <p:nvPr/>
        </p:nvSpPr>
        <p:spPr>
          <a:xfrm>
            <a:off x="628650" y="3543300"/>
            <a:ext cx="472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文本边界不清：normal / anomaly embeddings 纠缠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FDEFEB8F-20DD-4ACD-B9E9-6DC24D9DC228}"/>
              </a:ext>
            </a:extLst>
          </p:cNvPr>
          <p:cNvSpPr>
            <a:spLocks noGrp="1"/>
          </p:cNvSpPr>
          <p:nvPr/>
        </p:nvSpPr>
        <p:spPr>
          <a:xfrm>
            <a:off x="400050" y="42291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1A6CF9C-8334-4BAF-A125-BF416DC4A552}"/>
              </a:ext>
            </a:extLst>
          </p:cNvPr>
          <p:cNvSpPr>
            <a:spLocks noGrp="1"/>
          </p:cNvSpPr>
          <p:nvPr/>
        </p:nvSpPr>
        <p:spPr>
          <a:xfrm>
            <a:off x="628650" y="4152900"/>
            <a:ext cx="472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视觉监督偏弱：patch 特征缺少可靠语义锚点</a:t>
            </a:r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B3550CE7-81E8-4950-9272-0C5D270468C3}"/>
              </a:ext>
            </a:extLst>
          </p:cNvPr>
          <p:cNvSpPr>
            <a:spLocks noGrp="1"/>
          </p:cNvSpPr>
          <p:nvPr/>
        </p:nvSpPr>
        <p:spPr>
          <a:xfrm>
            <a:off x="400050" y="48387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04B5971-9167-4707-B261-C214A03031DF}"/>
              </a:ext>
            </a:extLst>
          </p:cNvPr>
          <p:cNvSpPr>
            <a:spLocks noGrp="1"/>
          </p:cNvSpPr>
          <p:nvPr/>
        </p:nvSpPr>
        <p:spPr>
          <a:xfrm>
            <a:off x="628650" y="4762500"/>
            <a:ext cx="4724400" cy="533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直接微调有风险：新任务适配可能破坏类别知识</a:t>
            </a: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9BEA866D-9222-4D28-A40E-AC9CB5158D0A}"/>
              </a:ext>
            </a:extLst>
          </p:cNvPr>
          <p:cNvSpPr>
            <a:spLocks noGrp="1"/>
          </p:cNvSpPr>
          <p:nvPr/>
        </p:nvSpPr>
        <p:spPr>
          <a:xfrm>
            <a:off x="6000750" y="1381125"/>
            <a:ext cx="5791200" cy="4324350"/>
          </a:xfrm>
          <a:prstGeom prst="roundRect">
            <a:avLst>
              <a:gd name="adj" fmla="val 3965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05550" y="1543050"/>
            <a:ext cx="5181600" cy="39624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077E0A0E-FF9C-4FEA-A4A5-C070D375AEE8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57200"/>
          </a:xfrm>
          <a:prstGeom prst="roundRect">
            <a:avLst>
              <a:gd name="adj" fmla="val 25000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3ABCC02-F970-4FE4-A64B-5A9EFDEFDF32}"/>
              </a:ext>
            </a:extLst>
          </p:cNvPr>
          <p:cNvSpPr>
            <a:spLocks noGrp="1"/>
          </p:cNvSpPr>
          <p:nvPr/>
        </p:nvSpPr>
        <p:spPr>
          <a:xfrm>
            <a:off x="590550" y="5934075"/>
            <a:ext cx="10934700" cy="2571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研究假设：先在文本空间建立清晰的异常边界，视觉定位才有可靠方向。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47C9CA-DB07-4CD5-950C-B1967032AB26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原论文 Fig. 2（裁剪与缩放，CC BY 4.0）</a:t>
            </a:r>
          </a:p>
        </p:txBody>
      </p:sp>
    </p:spTree>
    <p:extLst>
      <p:ext uri="{BB962C8B-B14F-4D97-AF65-F5344CB8AC3E}">
        <p14:creationId xmlns:p14="http://schemas.microsoft.com/office/powerpoint/2010/main" val="159524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A47871E-8ADE-464D-83C8-4A1E5CE86D8D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METHOD · CONTROLLED ADAPTATION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10E854-E314-49B2-B311-4043C24D46AF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两阶段适配：先定语义，再找证据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0C481A8-C4FC-411D-8934-DF778DCB9936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133CD5-828C-4267-A678-05299960F12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BA2FCF8-979C-4664-9E28-AC3C88E7CB2F}"/>
              </a:ext>
            </a:extLst>
          </p:cNvPr>
          <p:cNvSpPr>
            <a:spLocks noGrp="1"/>
          </p:cNvSpPr>
          <p:nvPr/>
        </p:nvSpPr>
        <p:spPr>
          <a:xfrm>
            <a:off x="3590925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E37CF59-6505-412B-8682-447FF4BB13A8}"/>
              </a:ext>
            </a:extLst>
          </p:cNvPr>
          <p:cNvSpPr>
            <a:spLocks noGrp="1"/>
          </p:cNvSpPr>
          <p:nvPr/>
        </p:nvSpPr>
        <p:spPr>
          <a:xfrm>
            <a:off x="7486650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40BDD90-490E-4E8A-BE03-8C1863B097B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70771-9697-434C-9B86-13FC86EADBE2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00  保留底座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82D73E-DE0B-42BA-BC69-CE15B836AE09}"/>
              </a:ext>
            </a:extLst>
          </p:cNvPr>
          <p:cNvSpPr>
            <a:spLocks noGrp="1"/>
          </p:cNvSpPr>
          <p:nvPr/>
        </p:nvSpPr>
        <p:spPr>
          <a:xfrm>
            <a:off x="6286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Freeze CLIP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B397F3-D30A-4140-900B-2F2DD3E66216}"/>
              </a:ext>
            </a:extLst>
          </p:cNvPr>
          <p:cNvSpPr>
            <a:spLocks noGrp="1"/>
          </p:cNvSpPr>
          <p:nvPr/>
        </p:nvSpPr>
        <p:spPr>
          <a:xfrm>
            <a:off x="6286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原始文本与视觉编码器参数保持冻结，避免遗忘通用类别知识。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830DAD-07DA-4271-A5B7-CCF2B1EEB238}"/>
              </a:ext>
            </a:extLst>
          </p:cNvPr>
          <p:cNvSpPr>
            <a:spLocks noGrp="1"/>
          </p:cNvSpPr>
          <p:nvPr/>
        </p:nvSpPr>
        <p:spPr>
          <a:xfrm>
            <a:off x="42481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857294-99C1-4166-9771-240859462F05}"/>
              </a:ext>
            </a:extLst>
          </p:cNvPr>
          <p:cNvSpPr>
            <a:spLocks noGrp="1"/>
          </p:cNvSpPr>
          <p:nvPr/>
        </p:nvSpPr>
        <p:spPr>
          <a:xfrm>
            <a:off x="44767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 文本适配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4282A5-1E83-4A9C-AAD8-2EFD42911267}"/>
              </a:ext>
            </a:extLst>
          </p:cNvPr>
          <p:cNvSpPr>
            <a:spLocks noGrp="1"/>
          </p:cNvSpPr>
          <p:nvPr/>
        </p:nvSpPr>
        <p:spPr>
          <a:xfrm>
            <a:off x="44767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Disentangle anchors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3A3086-B26D-4CCA-9959-1114A175CBFC}"/>
              </a:ext>
            </a:extLst>
          </p:cNvPr>
          <p:cNvSpPr>
            <a:spLocks noGrp="1"/>
          </p:cNvSpPr>
          <p:nvPr/>
        </p:nvSpPr>
        <p:spPr>
          <a:xfrm>
            <a:off x="44767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用残差适配器形成正常锚点 Tₙ 与异常锚点 Tₐ，并压低二者相关性。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2469C2B-FFB7-4CED-B0C1-6855B52C8AB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EBD8D7-98BB-4280-B922-77086FB24465}"/>
              </a:ext>
            </a:extLst>
          </p:cNvPr>
          <p:cNvSpPr>
            <a:spLocks noGrp="1"/>
          </p:cNvSpPr>
          <p:nvPr/>
        </p:nvSpPr>
        <p:spPr>
          <a:xfrm>
            <a:off x="83248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 视觉适配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929072-751C-4766-A1BB-57ACA144B657}"/>
              </a:ext>
            </a:extLst>
          </p:cNvPr>
          <p:cNvSpPr>
            <a:spLocks noGrp="1"/>
          </p:cNvSpPr>
          <p:nvPr/>
        </p:nvSpPr>
        <p:spPr>
          <a:xfrm>
            <a:off x="83248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Align patch features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6AFAC0-474E-4300-91C0-8F0B82D8B57C}"/>
              </a:ext>
            </a:extLst>
          </p:cNvPr>
          <p:cNvSpPr>
            <a:spLocks noGrp="1"/>
          </p:cNvSpPr>
          <p:nvPr/>
        </p:nvSpPr>
        <p:spPr>
          <a:xfrm>
            <a:off x="83248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让多尺度 patch 特征对齐固定文本锚点，输出图像分数和像素热力图。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1998274-021B-450D-9067-0878F3AC5F2F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200150"/>
          </a:xfrm>
          <a:prstGeom prst="roundRect">
            <a:avLst>
              <a:gd name="adj" fmla="val 1269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F6AF6D-0FF5-4F1B-8588-7B8EC16D4B6B}"/>
              </a:ext>
            </a:extLst>
          </p:cNvPr>
          <p:cNvSpPr>
            <a:spLocks noGrp="1"/>
          </p:cNvSpPr>
          <p:nvPr/>
        </p:nvSpPr>
        <p:spPr>
          <a:xfrm>
            <a:off x="628650" y="497205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残差适配 / Residual adaptation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FCEABC-C675-41DA-9814-289D9721F7F3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671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x_enhanced = λ · Norm(Act(Wx)) + (1 − λ) · x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469E0A-9F5C-4570-BAE6-C373CB008AF5}"/>
              </a:ext>
            </a:extLst>
          </p:cNvPr>
          <p:cNvSpPr>
            <a:spLocks noGrp="1"/>
          </p:cNvSpPr>
          <p:nvPr/>
        </p:nvSpPr>
        <p:spPr>
          <a:xfrm>
            <a:off x="8477250" y="51625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λ = 0.1</a:t>
            </a:r>
          </a:p>
          <a:p>
            <a:pPr algn="r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只注入少量任务知识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ECD6F1-8C6F-498C-A1E9-763F6987B9B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方法流程依据原论文 Sec. 3.1–3.2 重新绘制</a:t>
            </a:r>
          </a:p>
        </p:txBody>
      </p:sp>
    </p:spTree>
    <p:extLst>
      <p:ext uri="{BB962C8B-B14F-4D97-AF65-F5344CB8AC3E}">
        <p14:creationId xmlns:p14="http://schemas.microsoft.com/office/powerpoint/2010/main" val="965760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E774F6A1-A95C-431F-9228-5747F6EA0F9D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METHOD DETAILS · TWO-STAGE PIPELINE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272ECD8-9A11-4A87-98B3-B64D06AC79AF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同一套损失，分两次控制适配方向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B6404EF-022B-490A-B75A-0F22FA41D86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AB1497-420E-4B36-9BBC-246733F23AE3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9FD9149-72E0-4229-B6B4-14A172729C65}"/>
              </a:ext>
            </a:extLst>
          </p:cNvPr>
          <p:cNvSpPr>
            <a:spLocks noGrp="1"/>
          </p:cNvSpPr>
          <p:nvPr/>
        </p:nvSpPr>
        <p:spPr>
          <a:xfrm>
            <a:off x="400050" y="1362075"/>
            <a:ext cx="11391900" cy="4838700"/>
          </a:xfrm>
          <a:prstGeom prst="roundRect">
            <a:avLst>
              <a:gd name="adj" fmla="val 3150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2417109" y="1428750"/>
            <a:ext cx="7357782" cy="466725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A15CF94-C253-44BB-A207-412B7FD135C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原论文 Fig. 4（裁剪与缩放，CC BY 4.0）</a:t>
            </a:r>
          </a:p>
        </p:txBody>
      </p:sp>
    </p:spTree>
    <p:extLst>
      <p:ext uri="{BB962C8B-B14F-4D97-AF65-F5344CB8AC3E}">
        <p14:creationId xmlns:p14="http://schemas.microsoft.com/office/powerpoint/2010/main" val="1794452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75416C38-791F-4B9A-83D1-0F02C87A7547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EVIDENCE · TEXT FEATURE GEOMETRY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0666A6E-04D8-45EE-B6E4-DD511235BF12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文本锚点被分开，而且能迁移到未见类别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38628A1A-B9DF-4CB9-8ABB-02494B8AA1FB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A4E266-47BC-496C-8B74-046F2ED90C2A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05B47E-A074-4865-A47E-9B64C8B9A5DC}"/>
              </a:ext>
            </a:extLst>
          </p:cNvPr>
          <p:cNvSpPr>
            <a:spLocks noGrp="1"/>
          </p:cNvSpPr>
          <p:nvPr/>
        </p:nvSpPr>
        <p:spPr>
          <a:xfrm>
            <a:off x="400050" y="1504950"/>
            <a:ext cx="48577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dirty="0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Disentangle Loss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AC87011-A831-4B21-AFA7-C0037D7FC318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49530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4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L_dis</a:t>
            </a:r>
            <a:r>
              <a:rPr sz="24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= |⟨Tₙ, Tₐ⟩|²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AB26B7-EAEE-4133-A52C-FF937F978C2B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4857750" cy="819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它不要求两个锚点记住某一种缺陷，而是要求“正常</a:t>
            </a:r>
            <a:r>
              <a:rPr sz="15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—</a:t>
            </a:r>
            <a:r>
              <a:rPr sz="157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异常”的语义方向彼此独立</a:t>
            </a:r>
            <a:r>
              <a:rPr sz="157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D598CB5-BF8E-41AA-A2B2-B1E5FB600A75}"/>
              </a:ext>
            </a:extLst>
          </p:cNvPr>
          <p:cNvSpPr>
            <a:spLocks noGrp="1"/>
          </p:cNvSpPr>
          <p:nvPr/>
        </p:nvSpPr>
        <p:spPr>
          <a:xfrm>
            <a:off x="400050" y="385762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214752-6FC5-4EF5-B84F-8CDD23D77609}"/>
              </a:ext>
            </a:extLst>
          </p:cNvPr>
          <p:cNvSpPr>
            <a:spLocks noGrp="1"/>
          </p:cNvSpPr>
          <p:nvPr/>
        </p:nvSpPr>
        <p:spPr>
          <a:xfrm>
            <a:off x="628650" y="3781425"/>
            <a:ext cx="47244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原始 CLIP：同一类别的正常/异常提示混在一起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11DFC5FC-7476-47E7-B278-2E1BDE3B3161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7C86B9-3D86-452A-B518-836D16408F97}"/>
              </a:ext>
            </a:extLst>
          </p:cNvPr>
          <p:cNvSpPr>
            <a:spLocks noGrp="1"/>
          </p:cNvSpPr>
          <p:nvPr/>
        </p:nvSpPr>
        <p:spPr>
          <a:xfrm>
            <a:off x="628650" y="4381500"/>
            <a:ext cx="47244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AA-CLIP：正常/异常形成更清晰的局部结构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E8CD426A-B1DC-4564-80BC-BDE8C9BB0025}"/>
              </a:ext>
            </a:extLst>
          </p:cNvPr>
          <p:cNvSpPr>
            <a:spLocks noGrp="1"/>
          </p:cNvSpPr>
          <p:nvPr/>
        </p:nvSpPr>
        <p:spPr>
          <a:xfrm>
            <a:off x="400050" y="50577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A7E1BB-EB61-4183-877D-7A79F91894E1}"/>
              </a:ext>
            </a:extLst>
          </p:cNvPr>
          <p:cNvSpPr>
            <a:spLocks noGrp="1"/>
          </p:cNvSpPr>
          <p:nvPr/>
        </p:nvSpPr>
        <p:spPr>
          <a:xfrm>
            <a:off x="628650" y="4981575"/>
            <a:ext cx="47244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未见类别也出现分离，说明不只是拟合训练类别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0D433BC-0907-4183-8349-A1EEE1FFA53A}"/>
              </a:ext>
            </a:extLst>
          </p:cNvPr>
          <p:cNvSpPr>
            <a:spLocks noGrp="1"/>
          </p:cNvSpPr>
          <p:nvPr/>
        </p:nvSpPr>
        <p:spPr>
          <a:xfrm>
            <a:off x="6019800" y="1381125"/>
            <a:ext cx="5772150" cy="4552950"/>
          </a:xfrm>
          <a:prstGeom prst="roundRect">
            <a:avLst>
              <a:gd name="adj" fmla="val 3766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58548" y="1543050"/>
            <a:ext cx="4294654" cy="4171950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80BC6353-A3EB-4337-B0E1-6825551C19D1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原论文 Fig. 3（裁剪与缩放，CC BY 4.0）</a:t>
            </a:r>
          </a:p>
        </p:txBody>
      </p:sp>
    </p:spTree>
    <p:extLst>
      <p:ext uri="{BB962C8B-B14F-4D97-AF65-F5344CB8AC3E}">
        <p14:creationId xmlns:p14="http://schemas.microsoft.com/office/powerpoint/2010/main" val="119992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>
            <a:extLst>
              <a:ext uri="{FF2B5EF4-FFF2-40B4-BE49-F238E27FC236}">
                <a16:creationId xmlns:a16="http://schemas.microsoft.com/office/drawing/2014/main" id="{9EFA329E-152B-440E-BD14-685B86754BA9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EXPERIMENTS · CROSS-DATASET ZERO-SHOT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CDC6901-3069-4564-82A9-B7F54BE84713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少量样本即可形成强定位能力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E8C8619-405F-4F1C-96BD-509941990525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48FDBF2-0035-4093-BC08-5768318A65D7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="400050" y="1428750"/>
          <a:ext cx="6381750" cy="4333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91257C79-8DBF-4490-B8A8-3FF13FF1E4F0}"/>
              </a:ext>
            </a:extLst>
          </p:cNvPr>
          <p:cNvSpPr>
            <a:spLocks noGrp="1"/>
          </p:cNvSpPr>
          <p:nvPr/>
        </p:nvSpPr>
        <p:spPr>
          <a:xfrm>
            <a:off x="7239000" y="1428750"/>
            <a:ext cx="4552950" cy="123825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F640E08-64C2-44D1-8B54-D65EA90D79FA}"/>
              </a:ext>
            </a:extLst>
          </p:cNvPr>
          <p:cNvSpPr>
            <a:spLocks noGrp="1"/>
          </p:cNvSpPr>
          <p:nvPr/>
        </p:nvSpPr>
        <p:spPr>
          <a:xfrm>
            <a:off x="7505700" y="1619250"/>
            <a:ext cx="1714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93.4%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2FF12C3-BC45-4FFE-866E-F29CD54BB75C}"/>
              </a:ext>
            </a:extLst>
          </p:cNvPr>
          <p:cNvSpPr>
            <a:spLocks noGrp="1"/>
          </p:cNvSpPr>
          <p:nvPr/>
        </p:nvSpPr>
        <p:spPr>
          <a:xfrm>
            <a:off x="9315450" y="1695450"/>
            <a:ext cx="2190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Pixel-level AUROC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Full data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082538EA-C71D-499F-A8C2-1BCDFB736D4A}"/>
              </a:ext>
            </a:extLst>
          </p:cNvPr>
          <p:cNvSpPr>
            <a:spLocks noGrp="1"/>
          </p:cNvSpPr>
          <p:nvPr/>
        </p:nvSpPr>
        <p:spPr>
          <a:xfrm>
            <a:off x="7239000" y="2905125"/>
            <a:ext cx="4552950" cy="123825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A9A958-9F94-4FD2-B967-5FF59A164450}"/>
              </a:ext>
            </a:extLst>
          </p:cNvPr>
          <p:cNvSpPr>
            <a:spLocks noGrp="1"/>
          </p:cNvSpPr>
          <p:nvPr/>
        </p:nvSpPr>
        <p:spPr>
          <a:xfrm>
            <a:off x="7505700" y="3095625"/>
            <a:ext cx="1714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83.1%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962851-4D9B-405E-B344-61874C4F4889}"/>
              </a:ext>
            </a:extLst>
          </p:cNvPr>
          <p:cNvSpPr>
            <a:spLocks noGrp="1"/>
          </p:cNvSpPr>
          <p:nvPr/>
        </p:nvSpPr>
        <p:spPr>
          <a:xfrm>
            <a:off x="9315450" y="3171825"/>
            <a:ext cx="2190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Image-level AUROC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64-shot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B3B937F-23D5-4798-9E0E-3A149EF8EAE3}"/>
              </a:ext>
            </a:extLst>
          </p:cNvPr>
          <p:cNvSpPr>
            <a:spLocks noGrp="1"/>
          </p:cNvSpPr>
          <p:nvPr/>
        </p:nvSpPr>
        <p:spPr>
          <a:xfrm>
            <a:off x="7239000" y="4381500"/>
            <a:ext cx="4552950" cy="1238250"/>
          </a:xfrm>
          <a:prstGeom prst="roundRect">
            <a:avLst>
              <a:gd name="adj" fmla="val 1230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0CFE868-A8AC-4961-93BE-9AB530B1FA52}"/>
              </a:ext>
            </a:extLst>
          </p:cNvPr>
          <p:cNvSpPr>
            <a:spLocks noGrp="1"/>
          </p:cNvSpPr>
          <p:nvPr/>
        </p:nvSpPr>
        <p:spPr>
          <a:xfrm>
            <a:off x="7505700" y="4572000"/>
            <a:ext cx="1714500" cy="5238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92.0%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79AD2AC-842B-40EF-B99A-830089D612DB}"/>
              </a:ext>
            </a:extLst>
          </p:cNvPr>
          <p:cNvSpPr>
            <a:spLocks noGrp="1"/>
          </p:cNvSpPr>
          <p:nvPr/>
        </p:nvSpPr>
        <p:spPr>
          <a:xfrm>
            <a:off x="9315450" y="4648200"/>
            <a:ext cx="2190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Pixel-level AUROC</a:t>
            </a:r>
          </a:p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2-shot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B4E3A5E-D4CB-4364-A83B-8BB48C06DD53}"/>
              </a:ext>
            </a:extLst>
          </p:cNvPr>
          <p:cNvSpPr>
            <a:spLocks noGrp="1"/>
          </p:cNvSpPr>
          <p:nvPr/>
        </p:nvSpPr>
        <p:spPr>
          <a:xfrm>
            <a:off x="7239000" y="5876925"/>
            <a:ext cx="45529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11 benchmarks · 4 industrial + 7 medical · ViT-L/14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201732-F2C0-400C-B06A-A200D789DCEC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数据重绘自原论文 Tables 1–2；曲线为平均 AUROC</a:t>
            </a:r>
          </a:p>
        </p:txBody>
      </p:sp>
    </p:spTree>
    <p:extLst>
      <p:ext uri="{BB962C8B-B14F-4D97-AF65-F5344CB8AC3E}">
        <p14:creationId xmlns:p14="http://schemas.microsoft.com/office/powerpoint/2010/main" val="15697012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B196457-B496-4FF4-A133-4D709DF897AE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CRITICAL APPRAISAL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E527C-A846-4990-9B26-8A52A311E42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我如何理解它的价值与边界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AE2BDE7-9023-4FE8-AD62-F2BE907D95CB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41A3F0-3451-43A7-9DCF-B4C5189DEE9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24769-21B5-405C-9353-A6611E25A00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这项工作的贡献是改变判别空间的几何关系，而不是增加一个更大的骨干网络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84D181-75C2-4A25-8A35-E81573D7A997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C60EA-F90A-401B-87CA-BD2B740115DD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它真正解决了什么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8037120-CF61-4A91-B125-869BDD3425A0}"/>
              </a:ext>
            </a:extLst>
          </p:cNvPr>
          <p:cNvSpPr>
            <a:spLocks noGrp="1"/>
          </p:cNvSpPr>
          <p:nvPr/>
        </p:nvSpPr>
        <p:spPr>
          <a:xfrm>
            <a:off x="647700" y="32004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A8E303-81BB-4959-8ACB-474F06496D06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把正常/异常语义显式分开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D9B75-79E4-4253-9F00-C1E5A786678D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4F3882-FB2A-4CCE-A012-A0E27EE4B59E}"/>
              </a:ext>
            </a:extLst>
          </p:cNvPr>
          <p:cNvSpPr>
            <a:spLocks noGrp="1"/>
          </p:cNvSpPr>
          <p:nvPr/>
        </p:nvSpPr>
        <p:spPr>
          <a:xfrm>
            <a:off x="8763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用冻结与残差混合抑制灾难性遗忘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8832370-B00D-4614-9BB6-6AF66EB80B09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36D67C-06CF-4FDE-8810-E9F50598520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 11 个工业/医学基准上验证跨数据集迁移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41A810-A948-4C3E-AE4A-8165ECB17EE8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79B28D-8E93-475A-A260-1FAF87A7D90B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它没有解决什么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969CF27-207A-408F-94DC-24415A7C8B01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FB5819-D207-4FE0-9DAD-CDFCB4964ECD}"/>
              </a:ext>
            </a:extLst>
          </p:cNvPr>
          <p:cNvSpPr>
            <a:spLocks noGrp="1"/>
          </p:cNvSpPr>
          <p:nvPr/>
        </p:nvSpPr>
        <p:spPr>
          <a:xfrm>
            <a:off x="67437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并非 training-free：源类别仍需异常标签和像素掩膜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7C5A8D-FFEB-40C3-9BFC-9C3C6A7E49A0}"/>
              </a:ext>
            </a:extLst>
          </p:cNvPr>
          <p:cNvSpPr>
            <a:spLocks noGrp="1"/>
          </p:cNvSpPr>
          <p:nvPr/>
        </p:nvSpPr>
        <p:spPr>
          <a:xfrm>
            <a:off x="6515100" y="3876675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827CF4-73E3-4ED7-9B66-159F43C29761}"/>
              </a:ext>
            </a:extLst>
          </p:cNvPr>
          <p:cNvSpPr>
            <a:spLocks noGrp="1"/>
          </p:cNvSpPr>
          <p:nvPr/>
        </p:nvSpPr>
        <p:spPr>
          <a:xfrm>
            <a:off x="67437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full-shot 图像级平均值低于 64-shot，过拟合仍存在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BA37D21-94B2-4747-B380-B4C3246C2EBF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9A9908-613F-4F1E-816A-92CB4397C396}"/>
              </a:ext>
            </a:extLst>
          </p:cNvPr>
          <p:cNvSpPr>
            <a:spLocks noGrp="1"/>
          </p:cNvSpPr>
          <p:nvPr/>
        </p:nvSpPr>
        <p:spPr>
          <a:xfrm>
            <a:off x="67437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部署时的校准、速度与置信度可靠性不是论文重点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01D055-E1A0-46ED-AE32-1B964F0F6682}"/>
              </a:ext>
            </a:extLst>
          </p:cNvPr>
          <p:cNvSpPr>
            <a:spLocks noGrp="1"/>
          </p:cNvSpPr>
          <p:nvPr/>
        </p:nvSpPr>
        <p:spPr>
          <a:xfrm>
            <a:off x="400050" y="5791200"/>
            <a:ext cx="11391900" cy="428625"/>
          </a:xfrm>
          <a:prstGeom prst="roundRect">
            <a:avLst>
              <a:gd name="adj" fmla="val 26667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CC129E-7112-4ACD-A777-255AF7CA3D4E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1010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准确表述：这是“跨类别零样本异常检测”，不是“无需训练的异常检测”。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6ED9E7-D9E3-4A9E-BED2-7EE1B4A6232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评价依据原论文实验、消融与 Conclusion and Discussion</a:t>
            </a:r>
          </a:p>
        </p:txBody>
      </p:sp>
    </p:spTree>
    <p:extLst>
      <p:ext uri="{BB962C8B-B14F-4D97-AF65-F5344CB8AC3E}">
        <p14:creationId xmlns:p14="http://schemas.microsoft.com/office/powerpoint/2010/main" val="1039152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DELIVERABLES · PREPARED MATERIALS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论文转述已形成可提交、可讲解、可维护的资料包</a:t>
            </a:r>
            <a:endParaRPr sz="25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文档格式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Format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Word 版 + LaTeX 版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分别适合快速修改与规范学术排版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双语版本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Language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中文转述 + 英文转述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均保留论文结构、公式与实验结论。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汇报材料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Presentation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阶段性 PPT + 复现记录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分开呈现论文结论、个人理解和工程进度。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当前资料：Word × 中/英 + LaTeX × 中/英 + 阶段性汇报 PPT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B196457-B496-4FF4-A133-4D709DF897AE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REPRODUCTION SETUP · LOCAL READINESS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E527C-A846-4990-9B26-8A52A311E42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本地环境已经完成数据与代码链路准备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AE2BDE7-9023-4FE8-AD62-F2BE907D95CB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41A3F0-3451-43A7-9DCF-B4C5189DEE9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24769-21B5-405C-9353-A6611E25A00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现阶段硬件为 Windows + RX6650XT 8GB；目标不是追求指标，而是先确认数据、训练与测试流程能够完整衔接。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84D181-75C2-4A25-8A35-E81573D7A997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C60EA-F90A-401B-87CA-BD2B740115DD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本机与软件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8037120-CF61-4A91-B125-869BDD3425A0}"/>
              </a:ext>
            </a:extLst>
          </p:cNvPr>
          <p:cNvSpPr>
            <a:spLocks noGrp="1"/>
          </p:cNvSpPr>
          <p:nvPr/>
        </p:nvSpPr>
        <p:spPr>
          <a:xfrm>
            <a:off x="647700" y="32004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A8E303-81BB-4959-8ACB-474F06496D06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CPU：i5-12490F；GPU：RX6650XT 8GB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D9B75-79E4-4253-9F00-C1E5A786678D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4F3882-FB2A-4CCE-A012-A0E27EE4B59E}"/>
              </a:ext>
            </a:extLst>
          </p:cNvPr>
          <p:cNvSpPr>
            <a:spLocks noGrp="1"/>
          </p:cNvSpPr>
          <p:nvPr/>
        </p:nvSpPr>
        <p:spPr>
          <a:xfrm>
            <a:off x="8763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Python 3.10 + uv；独立 CPU / DML 环境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8832370-B00D-4614-9BB6-6AF66EB80B09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36D67C-06CF-4FDE-8810-E9F50598520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基于 AA-CLIP 官方代码做兼容性修正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41A810-A948-4C3E-AE4A-8165ECB17EE8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79B28D-8E93-475A-A260-1FAF87A7D90B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数据与脚本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969CF27-207A-408F-94DC-24415A7C8B01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FB5819-D207-4FE0-9DAD-CDFCB4964ECD}"/>
              </a:ext>
            </a:extLst>
          </p:cNvPr>
          <p:cNvSpPr>
            <a:spLocks noGrp="1"/>
          </p:cNvSpPr>
          <p:nvPr/>
        </p:nvSpPr>
        <p:spPr>
          <a:xfrm>
            <a:off x="67437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数据集：MVTec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AD、VisA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7C5A8D-FFEB-40C3-9BFC-9C3C6A7E49A0}"/>
              </a:ext>
            </a:extLst>
          </p:cNvPr>
          <p:cNvSpPr>
            <a:spLocks noGrp="1"/>
          </p:cNvSpPr>
          <p:nvPr/>
        </p:nvSpPr>
        <p:spPr>
          <a:xfrm>
            <a:off x="6515100" y="3876675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827CF4-73E3-4ED7-9B66-159F43C29761}"/>
              </a:ext>
            </a:extLst>
          </p:cNvPr>
          <p:cNvSpPr>
            <a:spLocks noGrp="1"/>
          </p:cNvSpPr>
          <p:nvPr/>
        </p:nvSpPr>
        <p:spPr>
          <a:xfrm>
            <a:off x="67437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metadata 的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image_path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与本地目录拼接已确认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BA37D21-94B2-4747-B380-B4C3246C2EBF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9A9908-613F-4F1E-816A-92CB4397C396}"/>
              </a:ext>
            </a:extLst>
          </p:cNvPr>
          <p:cNvSpPr>
            <a:spLocks noGrp="1"/>
          </p:cNvSpPr>
          <p:nvPr/>
        </p:nvSpPr>
        <p:spPr>
          <a:xfrm>
            <a:off x="67437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train.py / test.py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参数与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checkpoint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路径已跑通</a:t>
            </a:r>
            <a:endParaRPr sz="1425" b="0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01D055-E1A0-46ED-AE32-1B964F0F6682}"/>
              </a:ext>
            </a:extLst>
          </p:cNvPr>
          <p:cNvSpPr>
            <a:spLocks noGrp="1"/>
          </p:cNvSpPr>
          <p:nvPr/>
        </p:nvSpPr>
        <p:spPr>
          <a:xfrm>
            <a:off x="400050" y="5791200"/>
            <a:ext cx="11391900" cy="428625"/>
          </a:xfrm>
          <a:prstGeom prst="roundRect">
            <a:avLst>
              <a:gd name="adj" fmla="val 26667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CC129E-7112-4ACD-A777-255AF7CA3D4E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1010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已验证的是工程链路，不是论文表格中的最终性能。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6ED9E7-D9E3-4A9E-BED2-7EE1B4A6232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依据本地环境、数据目录和实际运行记录</a:t>
            </a:r>
          </a:p>
        </p:txBody>
      </p:sp>
    </p:spTree>
    <p:extLst>
      <p:ext uri="{BB962C8B-B14F-4D97-AF65-F5344CB8AC3E}">
        <p14:creationId xmlns:p14="http://schemas.microsoft.com/office/powerpoint/2010/main" val="10391528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BA47871E-8ADE-464D-83C8-4A1E5CE86D8D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REPRODUCTION PROGRESS · WHAT HAS RUN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810E854-E314-49B2-B311-4043C24D46AF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复现没有停在环境配置：已完成 CPU 训练与测试闭环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90C481A8-C4FC-411D-8934-DF778DCB9936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D133CD5-828C-4267-A678-05299960F120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BA2FCF8-979C-4664-9E28-AC3C88E7CB2F}"/>
              </a:ext>
            </a:extLst>
          </p:cNvPr>
          <p:cNvSpPr>
            <a:spLocks noGrp="1"/>
          </p:cNvSpPr>
          <p:nvPr/>
        </p:nvSpPr>
        <p:spPr>
          <a:xfrm>
            <a:off x="3590925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EE37CF59-6505-412B-8682-447FF4BB13A8}"/>
              </a:ext>
            </a:extLst>
          </p:cNvPr>
          <p:cNvSpPr>
            <a:spLocks noGrp="1"/>
          </p:cNvSpPr>
          <p:nvPr/>
        </p:nvSpPr>
        <p:spPr>
          <a:xfrm>
            <a:off x="7486650" y="2714625"/>
            <a:ext cx="495300" cy="323850"/>
          </a:xfrm>
          <a:prstGeom prst="rightArrow">
            <a:avLst/>
          </a:prstGeom>
          <a:solidFill>
            <a:srgbClr val="B8BCC4"/>
          </a:solidFill>
          <a:ln w="0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640BDD90-490E-4E8A-BE03-8C1863B097BB}"/>
              </a:ext>
            </a:extLst>
          </p:cNvPr>
          <p:cNvSpPr>
            <a:spLocks noGrp="1"/>
          </p:cNvSpPr>
          <p:nvPr/>
        </p:nvSpPr>
        <p:spPr>
          <a:xfrm>
            <a:off x="4000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BF70771-9697-434C-9B86-13FC86EADBE2}"/>
              </a:ext>
            </a:extLst>
          </p:cNvPr>
          <p:cNvSpPr>
            <a:spLocks noGrp="1"/>
          </p:cNvSpPr>
          <p:nvPr/>
        </p:nvSpPr>
        <p:spPr>
          <a:xfrm>
            <a:off x="6286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00  数据与依赖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82D73E-DE0B-42BA-BC69-CE15B836AE09}"/>
              </a:ext>
            </a:extLst>
          </p:cNvPr>
          <p:cNvSpPr>
            <a:spLocks noGrp="1"/>
          </p:cNvSpPr>
          <p:nvPr/>
        </p:nvSpPr>
        <p:spPr>
          <a:xfrm>
            <a:off x="6286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Data &amp; environment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CB397F3-D30A-4140-900B-2F2DD3E66216}"/>
              </a:ext>
            </a:extLst>
          </p:cNvPr>
          <p:cNvSpPr>
            <a:spLocks noGrp="1"/>
          </p:cNvSpPr>
          <p:nvPr/>
        </p:nvSpPr>
        <p:spPr>
          <a:xfrm>
            <a:off x="6286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核对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MVTec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/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VisA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zh-CN" altLang="en-US"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训练数据读取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metadata；解决</a:t>
            </a:r>
            <a:r>
              <a:rPr lang="zh-CN" altLang="en-US"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环境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依赖</a:t>
            </a:r>
            <a:r>
              <a:rPr lang="zh-CN" altLang="en-US"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冲突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问题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B830DAD-07DA-4271-A5B7-CCF2B1EEB238}"/>
              </a:ext>
            </a:extLst>
          </p:cNvPr>
          <p:cNvSpPr>
            <a:spLocks noGrp="1"/>
          </p:cNvSpPr>
          <p:nvPr/>
        </p:nvSpPr>
        <p:spPr>
          <a:xfrm>
            <a:off x="42481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8F1FF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B857294-99C1-4166-9771-240859462F05}"/>
              </a:ext>
            </a:extLst>
          </p:cNvPr>
          <p:cNvSpPr>
            <a:spLocks noGrp="1"/>
          </p:cNvSpPr>
          <p:nvPr/>
        </p:nvSpPr>
        <p:spPr>
          <a:xfrm>
            <a:off x="44767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 CPU 冒烟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E4282A5-1E83-4A9C-AAD8-2EFD42911267}"/>
              </a:ext>
            </a:extLst>
          </p:cNvPr>
          <p:cNvSpPr>
            <a:spLocks noGrp="1"/>
          </p:cNvSpPr>
          <p:nvPr/>
        </p:nvSpPr>
        <p:spPr>
          <a:xfrm>
            <a:off x="44767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Smoke test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63A3086-B26D-4CCA-9959-1114A175CBFC}"/>
              </a:ext>
            </a:extLst>
          </p:cNvPr>
          <p:cNvSpPr>
            <a:spLocks noGrp="1"/>
          </p:cNvSpPr>
          <p:nvPr/>
        </p:nvSpPr>
        <p:spPr>
          <a:xfrm>
            <a:off x="44767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VisA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2-shot、224、batch 1、各 1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epoch；训练与测试均可运行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62469C2B-FFB7-4CED-B0C1-6855B52C8AB1}"/>
              </a:ext>
            </a:extLst>
          </p:cNvPr>
          <p:cNvSpPr>
            <a:spLocks noGrp="1"/>
          </p:cNvSpPr>
          <p:nvPr/>
        </p:nvSpPr>
        <p:spPr>
          <a:xfrm>
            <a:off x="8096250" y="1809750"/>
            <a:ext cx="3314700" cy="2571750"/>
          </a:xfrm>
          <a:prstGeom prst="roundRect">
            <a:avLst>
              <a:gd name="adj" fmla="val 6667"/>
            </a:avLst>
          </a:prstGeom>
          <a:solidFill>
            <a:srgbClr val="EAF5FB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AEBD8D7-98BB-4280-B922-77086FB24465}"/>
              </a:ext>
            </a:extLst>
          </p:cNvPr>
          <p:cNvSpPr>
            <a:spLocks noGrp="1"/>
          </p:cNvSpPr>
          <p:nvPr/>
        </p:nvSpPr>
        <p:spPr>
          <a:xfrm>
            <a:off x="8324850" y="2057400"/>
            <a:ext cx="2857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 DML 探索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929072-751C-4766-A1BB-57ACA144B657}"/>
              </a:ext>
            </a:extLst>
          </p:cNvPr>
          <p:cNvSpPr>
            <a:spLocks noGrp="1"/>
          </p:cNvSpPr>
          <p:nvPr/>
        </p:nvSpPr>
        <p:spPr>
          <a:xfrm>
            <a:off x="8324850" y="2447925"/>
            <a:ext cx="2857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DirectML attempt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E6AFAC0-474E-4300-91C0-8F0B82D8B57C}"/>
              </a:ext>
            </a:extLst>
          </p:cNvPr>
          <p:cNvSpPr>
            <a:spLocks noGrp="1"/>
          </p:cNvSpPr>
          <p:nvPr/>
        </p:nvSpPr>
        <p:spPr>
          <a:xfrm>
            <a:off x="8324850" y="3086100"/>
            <a:ext cx="2857500" cy="1000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修复设备与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DAPM </a:t>
            </a:r>
            <a:r>
              <a:rPr sz="1425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类型冲突；运行推进到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text adapter 的 backward</a:t>
            </a:r>
            <a:r>
              <a:rPr lang="zh-CN" altLang="en-US"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停止</a:t>
            </a:r>
            <a:r>
              <a:rPr sz="1425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01998274-021B-450D-9067-0878F3AC5F2F}"/>
              </a:ext>
            </a:extLst>
          </p:cNvPr>
          <p:cNvSpPr>
            <a:spLocks noGrp="1"/>
          </p:cNvSpPr>
          <p:nvPr/>
        </p:nvSpPr>
        <p:spPr>
          <a:xfrm>
            <a:off x="400050" y="4762500"/>
            <a:ext cx="11391900" cy="1200150"/>
          </a:xfrm>
          <a:prstGeom prst="roundRect">
            <a:avLst>
              <a:gd name="adj" fmla="val 12698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6F6AF6D-0FF5-4F1B-8588-7B8EC16D4B6B}"/>
              </a:ext>
            </a:extLst>
          </p:cNvPr>
          <p:cNvSpPr>
            <a:spLocks noGrp="1"/>
          </p:cNvSpPr>
          <p:nvPr/>
        </p:nvSpPr>
        <p:spPr>
          <a:xfrm>
            <a:off x="628650" y="4972050"/>
            <a:ext cx="3810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阶段判断 / Phase result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49FCEABC-C675-41DA-9814-289D9721F7F3}"/>
              </a:ext>
            </a:extLst>
          </p:cNvPr>
          <p:cNvSpPr>
            <a:spLocks noGrp="1"/>
          </p:cNvSpPr>
          <p:nvPr/>
        </p:nvSpPr>
        <p:spPr>
          <a:xfrm>
            <a:off x="628650" y="5314950"/>
            <a:ext cx="6715125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数据读取 → 模型构建 → 前向计算 → 损失计算  已验证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FB469E0A-9F5C-4570-BAE6-C373CB008AF5}"/>
              </a:ext>
            </a:extLst>
          </p:cNvPr>
          <p:cNvSpPr>
            <a:spLocks noGrp="1"/>
          </p:cNvSpPr>
          <p:nvPr/>
        </p:nvSpPr>
        <p:spPr>
          <a:xfrm>
            <a:off x="8477250" y="5162550"/>
            <a:ext cx="28575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反向传播</a:t>
            </a:r>
          </a:p>
          <a:p>
            <a:pPr algn="r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DirectML 阻塞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FECD6F1-8C6F-498C-A1E9-763F6987B9B9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进度依据本地实际训练、测试与 traceback 记录</a:t>
            </a:r>
          </a:p>
        </p:txBody>
      </p:sp>
    </p:spTree>
    <p:extLst>
      <p:ext uri="{BB962C8B-B14F-4D97-AF65-F5344CB8AC3E}">
        <p14:creationId xmlns:p14="http://schemas.microsoft.com/office/powerpoint/2010/main" val="96576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F3EC7716-E0BF-4239-B9B5-C41D63690962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ENGINEERING FIXES · VERIFIED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10E1C1D-2967-454F-8632-578777B83A62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进入模型训练前的工程性错误已经逐项排除</a:t>
            </a:r>
            <a:endParaRPr sz="25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790DF520-592D-4120-9FE5-818F09CD6403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EF8FB2F-DEF9-45D8-A6C3-C0B05A6F464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4B68CB-4603-49AE-B282-2B7529E9E28C}"/>
              </a:ext>
            </a:extLst>
          </p:cNvPr>
          <p:cNvSpPr>
            <a:spLocks noGrp="1"/>
          </p:cNvSpPr>
          <p:nvPr/>
        </p:nvSpPr>
        <p:spPr>
          <a:xfrm>
            <a:off x="400050" y="1438275"/>
            <a:ext cx="4953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从“找不到文件”推进到 backward，说明前置链路已经打通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B73D5FE-3ADC-443A-93D8-358F99A3337E}"/>
              </a:ext>
            </a:extLst>
          </p:cNvPr>
          <p:cNvSpPr>
            <a:spLocks noGrp="1"/>
          </p:cNvSpPr>
          <p:nvPr/>
        </p:nvSpPr>
        <p:spPr>
          <a:xfrm>
            <a:off x="400050" y="1885950"/>
            <a:ext cx="4953000" cy="666750"/>
          </a:xfrm>
          <a:prstGeom prst="roundRect">
            <a:avLst>
              <a:gd name="adj" fmla="val 17143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F5DDFD6-53DC-4346-9AB4-E9BE9B4C8A60}"/>
              </a:ext>
            </a:extLst>
          </p:cNvPr>
          <p:cNvSpPr>
            <a:spLocks noGrp="1"/>
          </p:cNvSpPr>
          <p:nvPr/>
        </p:nvSpPr>
        <p:spPr>
          <a:xfrm>
            <a:off x="590550" y="200025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数据路径与 metadata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6FFE5C7-3626-4954-94F7-1FB273AFFA4F}"/>
              </a:ext>
            </a:extLst>
          </p:cNvPr>
          <p:cNvSpPr>
            <a:spLocks noGrp="1"/>
          </p:cNvSpPr>
          <p:nvPr/>
        </p:nvSpPr>
        <p:spPr>
          <a:xfrm>
            <a:off x="3429000" y="20002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已验证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EEEBE311-1A3F-4DD3-A44F-9BD7C8A71144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4953000" cy="666750"/>
          </a:xfrm>
          <a:prstGeom prst="roundRect">
            <a:avLst>
              <a:gd name="adj" fmla="val 17143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0B6E85-195A-4CFC-806F-757264E02547}"/>
              </a:ext>
            </a:extLst>
          </p:cNvPr>
          <p:cNvSpPr>
            <a:spLocks noGrp="1"/>
          </p:cNvSpPr>
          <p:nvPr/>
        </p:nvSpPr>
        <p:spPr>
          <a:xfrm>
            <a:off x="590550" y="281940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依赖与 tokenizer 导入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C72C3C2-CB06-4D51-9E61-5C09754F2E76}"/>
              </a:ext>
            </a:extLst>
          </p:cNvPr>
          <p:cNvSpPr>
            <a:spLocks noGrp="1"/>
          </p:cNvSpPr>
          <p:nvPr/>
        </p:nvSpPr>
        <p:spPr>
          <a:xfrm>
            <a:off x="3429000" y="281940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已修复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5F92040-4A8A-407F-BE1B-CE875CAA9535}"/>
              </a:ext>
            </a:extLst>
          </p:cNvPr>
          <p:cNvSpPr>
            <a:spLocks noGrp="1"/>
          </p:cNvSpPr>
          <p:nvPr/>
        </p:nvSpPr>
        <p:spPr>
          <a:xfrm>
            <a:off x="400050" y="3524250"/>
            <a:ext cx="4953000" cy="666750"/>
          </a:xfrm>
          <a:prstGeom prst="roundRect">
            <a:avLst>
              <a:gd name="adj" fmla="val 17143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4A0A48-4791-4452-B45F-AB33F3E61AA2}"/>
              </a:ext>
            </a:extLst>
          </p:cNvPr>
          <p:cNvSpPr>
            <a:spLocks noGrp="1"/>
          </p:cNvSpPr>
          <p:nvPr/>
        </p:nvSpPr>
        <p:spPr>
          <a:xfrm>
            <a:off x="590550" y="3638550"/>
            <a:ext cx="2857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checkpoint 与结果汇总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3EC97E-CD66-43B9-8BFF-F3C1BD221EFD}"/>
              </a:ext>
            </a:extLst>
          </p:cNvPr>
          <p:cNvSpPr>
            <a:spLocks noGrp="1"/>
          </p:cNvSpPr>
          <p:nvPr/>
        </p:nvSpPr>
        <p:spPr>
          <a:xfrm>
            <a:off x="3429000" y="3638550"/>
            <a:ext cx="17145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已修复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6D53413-BD30-4CE5-B980-258D58D24010}"/>
              </a:ext>
            </a:extLst>
          </p:cNvPr>
          <p:cNvSpPr>
            <a:spLocks noGrp="1"/>
          </p:cNvSpPr>
          <p:nvPr/>
        </p:nvSpPr>
        <p:spPr>
          <a:xfrm>
            <a:off x="3209925" y="4362450"/>
            <a:ext cx="2143125" cy="209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本地工程状态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9B748F3C-25FD-4EBB-BD4F-88BD1B42A955}"/>
              </a:ext>
            </a:extLst>
          </p:cNvPr>
          <p:cNvSpPr>
            <a:spLocks noGrp="1"/>
          </p:cNvSpPr>
          <p:nvPr/>
        </p:nvSpPr>
        <p:spPr>
          <a:xfrm>
            <a:off x="6019800" y="1381125"/>
            <a:ext cx="5772150" cy="4162425"/>
          </a:xfrm>
          <a:prstGeom prst="roundRect">
            <a:avLst>
              <a:gd name="adj" fmla="val 4119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210300" y="1850348"/>
            <a:ext cx="5391150" cy="3166829"/>
          </a:xfrm>
          <a:prstGeom prst="rect">
            <a:avLst/>
          </a:prstGeom>
        </p:spPr>
      </p:pic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C4D1ED4-4F7B-4065-BE25-3F0D68E65612}"/>
              </a:ext>
            </a:extLst>
          </p:cNvPr>
          <p:cNvSpPr>
            <a:spLocks noGrp="1"/>
          </p:cNvSpPr>
          <p:nvPr/>
        </p:nvSpPr>
        <p:spPr>
          <a:xfrm>
            <a:off x="400050" y="4905375"/>
            <a:ext cx="4953000" cy="647700"/>
          </a:xfrm>
          <a:prstGeom prst="roundRect">
            <a:avLst>
              <a:gd name="adj" fmla="val 17647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8C4CE8A-02D7-4656-B696-D4AA3F808232}"/>
              </a:ext>
            </a:extLst>
          </p:cNvPr>
          <p:cNvSpPr>
            <a:spLocks noGrp="1"/>
          </p:cNvSpPr>
          <p:nvPr/>
        </p:nvSpPr>
        <p:spPr>
          <a:xfrm>
            <a:off x="571500" y="5100638"/>
            <a:ext cx="4610100" cy="4095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右侧</a:t>
            </a:r>
            <a:r>
              <a:rPr lang="zh-CN" altLang="en-US" sz="127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是</a:t>
            </a:r>
            <a:r>
              <a:rPr sz="127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数据目录、配置、metadata</a:t>
            </a:r>
            <a:r>
              <a:rPr sz="1275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与依赖错误记录</a:t>
            </a:r>
            <a:endParaRPr sz="1275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64E8D29-87CA-4B1F-9A5F-C5B5CCB3C490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修正：BASE_PATH 拼接、packaging.version、map_location、numeric_only</a:t>
            </a:r>
          </a:p>
        </p:txBody>
      </p:sp>
    </p:spTree>
    <p:extLst>
      <p:ext uri="{BB962C8B-B14F-4D97-AF65-F5344CB8AC3E}">
        <p14:creationId xmlns:p14="http://schemas.microsoft.com/office/powerpoint/2010/main" val="4443838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9B196457-B496-4FF4-A133-4D709DF897AE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DIRECTML ATTEMPT · FAILURE BOUNDARY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2E527C-A846-4990-9B26-8A52A311E42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DirectML 的阻塞发生在反向传播，而不是数据读取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6AE2BDE7-9023-4FE8-AD62-F2BE907D95CB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941A3F0-3451-43A7-9DCF-B4C5189DEE92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2D24769-21B5-405C-9353-A6611E25A009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新 DML </a:t>
            </a: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环境已越过设备解析、DAPM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替换和前向损失计算；最终停在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text adapter 的 </a:t>
            </a: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loss.backward</a:t>
            </a: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()。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1E84D181-75C2-4A25-8A35-E81573D7A997}"/>
              </a:ext>
            </a:extLst>
          </p:cNvPr>
          <p:cNvSpPr>
            <a:spLocks noGrp="1"/>
          </p:cNvSpPr>
          <p:nvPr/>
        </p:nvSpPr>
        <p:spPr>
          <a:xfrm>
            <a:off x="4000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ACC60EA-F90A-401B-87CA-BD2B740115DD}"/>
              </a:ext>
            </a:extLst>
          </p:cNvPr>
          <p:cNvSpPr>
            <a:spLocks noGrp="1"/>
          </p:cNvSpPr>
          <p:nvPr/>
        </p:nvSpPr>
        <p:spPr>
          <a:xfrm>
            <a:off x="6477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4E8A"/>
                </a:solidFill>
                <a:latin typeface="Microsoft YaHei"/>
                <a:ea typeface="Microsoft YaHei"/>
                <a:cs typeface="Microsoft YaHei"/>
              </a:rPr>
              <a:t>已经推进到哪里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98037120-CF61-4A91-B125-869BDD3425A0}"/>
              </a:ext>
            </a:extLst>
          </p:cNvPr>
          <p:cNvSpPr>
            <a:spLocks noGrp="1"/>
          </p:cNvSpPr>
          <p:nvPr/>
        </p:nvSpPr>
        <p:spPr>
          <a:xfrm>
            <a:off x="647700" y="320040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AA8E303-81BB-4959-8ACB-474F06496D06}"/>
              </a:ext>
            </a:extLst>
          </p:cNvPr>
          <p:cNvSpPr>
            <a:spLocks noGrp="1"/>
          </p:cNvSpPr>
          <p:nvPr/>
        </p:nvSpPr>
        <p:spPr>
          <a:xfrm>
            <a:off x="8763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建立独立 .venv-dml，并增加 --device dml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6B1D9B75-79E4-4253-9F00-C1E5A786678D}"/>
              </a:ext>
            </a:extLst>
          </p:cNvPr>
          <p:cNvSpPr>
            <a:spLocks noGrp="1"/>
          </p:cNvSpPr>
          <p:nvPr/>
        </p:nvSpPr>
        <p:spPr>
          <a:xfrm>
            <a:off x="647700" y="3876675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04F3882-FB2A-4CCE-A012-A0E27EE4B59E}"/>
              </a:ext>
            </a:extLst>
          </p:cNvPr>
          <p:cNvSpPr>
            <a:spLocks noGrp="1"/>
          </p:cNvSpPr>
          <p:nvPr/>
        </p:nvSpPr>
        <p:spPr>
          <a:xfrm>
            <a:off x="8763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修复 DAPM 参数与张量类型不兼容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F8832370-B00D-4614-9BB6-6AF66EB80B09}"/>
              </a:ext>
            </a:extLst>
          </p:cNvPr>
          <p:cNvSpPr>
            <a:spLocks noGrp="1"/>
          </p:cNvSpPr>
          <p:nvPr/>
        </p:nvSpPr>
        <p:spPr>
          <a:xfrm>
            <a:off x="647700" y="4552950"/>
            <a:ext cx="95250" cy="9525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B36D67C-06CF-4FDE-8810-E9F505985205}"/>
              </a:ext>
            </a:extLst>
          </p:cNvPr>
          <p:cNvSpPr>
            <a:spLocks noGrp="1"/>
          </p:cNvSpPr>
          <p:nvPr/>
        </p:nvSpPr>
        <p:spPr>
          <a:xfrm>
            <a:off x="8763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进入 train_text_adapter，完成 forward 与 loss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841A810-A948-4C3E-AE4A-8165ECB17EE8}"/>
              </a:ext>
            </a:extLst>
          </p:cNvPr>
          <p:cNvSpPr>
            <a:spLocks noGrp="1"/>
          </p:cNvSpPr>
          <p:nvPr/>
        </p:nvSpPr>
        <p:spPr>
          <a:xfrm>
            <a:off x="6267450" y="2209800"/>
            <a:ext cx="5524500" cy="3295650"/>
          </a:xfrm>
          <a:prstGeom prst="roundRect">
            <a:avLst>
              <a:gd name="adj" fmla="val 5202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79B28D-8E93-475A-A260-1FAF87A7D90B}"/>
              </a:ext>
            </a:extLst>
          </p:cNvPr>
          <p:cNvSpPr>
            <a:spLocks noGrp="1"/>
          </p:cNvSpPr>
          <p:nvPr/>
        </p:nvSpPr>
        <p:spPr>
          <a:xfrm>
            <a:off x="6515100" y="2476500"/>
            <a:ext cx="4953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为什么在这里停止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3969CF27-207A-408F-94DC-24415A7C8B01}"/>
              </a:ext>
            </a:extLst>
          </p:cNvPr>
          <p:cNvSpPr>
            <a:spLocks noGrp="1"/>
          </p:cNvSpPr>
          <p:nvPr/>
        </p:nvSpPr>
        <p:spPr>
          <a:xfrm>
            <a:off x="6515100" y="320040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BFB5819-D207-4FE0-9DAD-CDFCB4964ECD}"/>
              </a:ext>
            </a:extLst>
          </p:cNvPr>
          <p:cNvSpPr>
            <a:spLocks noGrp="1"/>
          </p:cNvSpPr>
          <p:nvPr/>
        </p:nvSpPr>
        <p:spPr>
          <a:xfrm>
            <a:off x="6743700" y="312420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loss.backward() 返回无详细信息 RuntimeError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0F7C5A8D-FFEB-40C3-9BFC-9C3C6A7E49A0}"/>
              </a:ext>
            </a:extLst>
          </p:cNvPr>
          <p:cNvSpPr>
            <a:spLocks noGrp="1"/>
          </p:cNvSpPr>
          <p:nvPr/>
        </p:nvSpPr>
        <p:spPr>
          <a:xfrm>
            <a:off x="6515100" y="3876675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1F827CF4-73E3-4ED7-9B66-159F43C29761}"/>
              </a:ext>
            </a:extLst>
          </p:cNvPr>
          <p:cNvSpPr>
            <a:spLocks noGrp="1"/>
          </p:cNvSpPr>
          <p:nvPr/>
        </p:nvSpPr>
        <p:spPr>
          <a:xfrm>
            <a:off x="6743700" y="3800475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综合定位为 DirectML 反向算子 / autograd 兼容边界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2BA37D21-94B2-4747-B380-B4C3246C2EBF}"/>
              </a:ext>
            </a:extLst>
          </p:cNvPr>
          <p:cNvSpPr>
            <a:spLocks noGrp="1"/>
          </p:cNvSpPr>
          <p:nvPr/>
        </p:nvSpPr>
        <p:spPr>
          <a:xfrm>
            <a:off x="6515100" y="4552950"/>
            <a:ext cx="95250" cy="95250"/>
          </a:xfrm>
          <a:prstGeom prst="ellipse">
            <a:avLst/>
          </a:prstGeom>
          <a:solidFill>
            <a:srgbClr val="5F6672"/>
          </a:solidFill>
          <a:ln w="0">
            <a:solidFill>
              <a:srgbClr val="5F667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49A9908-613F-4F1E-816A-92CB4397C396}"/>
              </a:ext>
            </a:extLst>
          </p:cNvPr>
          <p:cNvSpPr>
            <a:spLocks noGrp="1"/>
          </p:cNvSpPr>
          <p:nvPr/>
        </p:nvSpPr>
        <p:spPr>
          <a:xfrm>
            <a:off x="6743700" y="4476750"/>
            <a:ext cx="4581525" cy="6000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继续兼容会偏离官方 CUDA 实现，结果可信度下降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6801D055-E1A0-46ED-AE32-1B964F0F6682}"/>
              </a:ext>
            </a:extLst>
          </p:cNvPr>
          <p:cNvSpPr>
            <a:spLocks noGrp="1"/>
          </p:cNvSpPr>
          <p:nvPr/>
        </p:nvSpPr>
        <p:spPr>
          <a:xfrm>
            <a:off x="400050" y="5791200"/>
            <a:ext cx="11391900" cy="428625"/>
          </a:xfrm>
          <a:prstGeom prst="roundRect">
            <a:avLst>
              <a:gd name="adj" fmla="val 26667"/>
            </a:avLst>
          </a:prstGeom>
          <a:solidFill>
            <a:srgbClr val="EAF5FB"/>
          </a:solidFill>
          <a:ln w="0">
            <a:solidFill>
              <a:srgbClr val="EAF5F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FCC129E-7112-4ACD-A777-255AF7CA3D4E}"/>
              </a:ext>
            </a:extLst>
          </p:cNvPr>
          <p:cNvSpPr>
            <a:spLocks noGrp="1"/>
          </p:cNvSpPr>
          <p:nvPr/>
        </p:nvSpPr>
        <p:spPr>
          <a:xfrm>
            <a:off x="590550" y="5886450"/>
            <a:ext cx="1101090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结论：保留 DML 修改记录；正式复现切回干净 CUDA 分支。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16ED9E7-D9E3-4A9E-BED2-7EE1B4A62327}"/>
              </a:ext>
            </a:extLst>
          </p:cNvPr>
          <p:cNvSpPr>
            <a:spLocks noGrp="1"/>
          </p:cNvSpPr>
          <p:nvPr/>
        </p:nvSpPr>
        <p:spPr>
          <a:xfrm>
            <a:off x="400050" y="6419850"/>
            <a:ext cx="102870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失败边界依据本地 traceback 与逐步排查</a:t>
            </a:r>
          </a:p>
        </p:txBody>
      </p:sp>
    </p:spTree>
    <p:extLst>
      <p:ext uri="{BB962C8B-B14F-4D97-AF65-F5344CB8AC3E}">
        <p14:creationId xmlns:p14="http://schemas.microsoft.com/office/powerpoint/2010/main" val="10391528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NEXT STEP · CUDA REPRODUCTION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下一阶段将在</a:t>
            </a:r>
            <a:r>
              <a:rPr sz="25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RTX 3090 24GB </a:t>
            </a:r>
            <a:r>
              <a:rPr sz="25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上完成正式复现</a:t>
            </a:r>
            <a:endParaRPr sz="25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38369F-63BF-4154-A5CE-FA7DCC88C13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3090 </a:t>
            </a:r>
            <a:r>
              <a:rPr sz="15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与论文原始实验硬件一致；目标是恢复官方</a:t>
            </a:r>
            <a:r>
              <a:rPr sz="15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CUDA </a:t>
            </a:r>
            <a:r>
              <a:rPr sz="15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路径，而不是继续扩展</a:t>
            </a:r>
            <a:r>
              <a:rPr sz="15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DirectML</a:t>
            </a:r>
            <a:r>
              <a:rPr sz="15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兼容代码</a:t>
            </a:r>
            <a:r>
              <a:rPr sz="15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环境重建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Environment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AutoDL · RTX 3090 24GB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Ubuntu + PyTorch 2.3.1 + CUDA 12.1；从干净分支开始。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分级运行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先跑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224 / 1 epoch </a:t>
            </a: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冒烟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再运行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518 </a:t>
            </a: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输入、文本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5 </a:t>
            </a: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epoch、图像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20 epoch。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成果验收</a:t>
            </a:r>
            <a:endParaRPr sz="18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CSV、日志、checkpoint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与热力图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；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统计显存、耗时并对比论文指标</a:t>
            </a:r>
            <a:r>
              <a:rPr sz="12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成功标准：官方配置可重复运行；指标接近论文；偏差能够解释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9280D3E5-8181-4DAA-8B38-6939E134A14C}"/>
              </a:ext>
            </a:extLst>
          </p:cNvPr>
          <p:cNvSpPr>
            <a:spLocks noGrp="1"/>
          </p:cNvSpPr>
          <p:nvPr/>
        </p:nvSpPr>
        <p:spPr>
          <a:xfrm>
            <a:off x="400050" y="238125"/>
            <a:ext cx="67627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FUTURE DIRECTION · MODEL PERFORMANCE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4DEEDC3-4C39-43DE-A3A8-0BB779A772A6}"/>
              </a:ext>
            </a:extLst>
          </p:cNvPr>
          <p:cNvSpPr>
            <a:spLocks noGrp="1"/>
          </p:cNvSpPr>
          <p:nvPr/>
        </p:nvSpPr>
        <p:spPr>
          <a:xfrm>
            <a:off x="400050" y="523875"/>
            <a:ext cx="1066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25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未来方向：面向视觉与多模态模型的系统性能优化</a:t>
            </a:r>
            <a:endParaRPr sz="25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2F8C1C0F-3961-4453-89E4-1CA803DF4DAC}"/>
              </a:ext>
            </a:extLst>
          </p:cNvPr>
          <p:cNvSpPr>
            <a:spLocks noGrp="1"/>
          </p:cNvSpPr>
          <p:nvPr/>
        </p:nvSpPr>
        <p:spPr>
          <a:xfrm>
            <a:off x="400050" y="1133475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EA93673-4EA1-488A-BBFF-D0D60DA5CE0D}"/>
              </a:ext>
            </a:extLst>
          </p:cNvPr>
          <p:cNvSpPr>
            <a:spLocks noGrp="1"/>
          </p:cNvSpPr>
          <p:nvPr/>
        </p:nvSpPr>
        <p:spPr>
          <a:xfrm>
            <a:off x="11239500" y="64198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138369F-63BF-4154-A5CE-FA7DCC88C137}"/>
              </a:ext>
            </a:extLst>
          </p:cNvPr>
          <p:cNvSpPr>
            <a:spLocks noGrp="1"/>
          </p:cNvSpPr>
          <p:nvPr/>
        </p:nvSpPr>
        <p:spPr>
          <a:xfrm>
            <a:off x="400050" y="1381125"/>
            <a:ext cx="11391900" cy="552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工业异常检测只是当前复现切入口；长期目标是同时提升模型精度、计算效率、泛化能力与鲁棒性。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C954A943-E414-4075-98F4-0B2A04617956}"/>
              </a:ext>
            </a:extLst>
          </p:cNvPr>
          <p:cNvSpPr>
            <a:spLocks noGrp="1"/>
          </p:cNvSpPr>
          <p:nvPr/>
        </p:nvSpPr>
        <p:spPr>
          <a:xfrm>
            <a:off x="4000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5715E9A-719A-47F6-BBE2-E00E8ED59536}"/>
              </a:ext>
            </a:extLst>
          </p:cNvPr>
          <p:cNvSpPr>
            <a:spLocks noGrp="1"/>
          </p:cNvSpPr>
          <p:nvPr/>
        </p:nvSpPr>
        <p:spPr>
          <a:xfrm>
            <a:off x="6286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658BE9-6652-4877-9184-AEEE082F264E}"/>
              </a:ext>
            </a:extLst>
          </p:cNvPr>
          <p:cNvSpPr>
            <a:spLocks noGrp="1"/>
          </p:cNvSpPr>
          <p:nvPr/>
        </p:nvSpPr>
        <p:spPr>
          <a:xfrm>
            <a:off x="6286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优化目标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Objectives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E225E798-332D-4FAB-A41E-7D651083B886}"/>
              </a:ext>
            </a:extLst>
          </p:cNvPr>
          <p:cNvSpPr>
            <a:spLocks noGrp="1"/>
          </p:cNvSpPr>
          <p:nvPr/>
        </p:nvSpPr>
        <p:spPr>
          <a:xfrm>
            <a:off x="6286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379874-8107-4FFF-B577-FAD0C920D9A3}"/>
              </a:ext>
            </a:extLst>
          </p:cNvPr>
          <p:cNvSpPr>
            <a:spLocks noGrp="1"/>
          </p:cNvSpPr>
          <p:nvPr/>
        </p:nvSpPr>
        <p:spPr>
          <a:xfrm>
            <a:off x="6286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准确率与定位质量</a:t>
            </a:r>
          </a:p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跨数据集泛化、鲁棒性与稳定性</a:t>
            </a: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BFC96DE-18FB-4170-9142-70B4C04F5D4D}"/>
              </a:ext>
            </a:extLst>
          </p:cNvPr>
          <p:cNvSpPr>
            <a:spLocks noGrp="1"/>
          </p:cNvSpPr>
          <p:nvPr/>
        </p:nvSpPr>
        <p:spPr>
          <a:xfrm>
            <a:off x="430530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9AD3BCD-A626-4BC7-AD66-8C97767BD5A4}"/>
              </a:ext>
            </a:extLst>
          </p:cNvPr>
          <p:cNvSpPr>
            <a:spLocks noGrp="1"/>
          </p:cNvSpPr>
          <p:nvPr/>
        </p:nvSpPr>
        <p:spPr>
          <a:xfrm>
            <a:off x="453390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7C39375-6BAA-4D18-A27E-DFD7CD9D30B0}"/>
              </a:ext>
            </a:extLst>
          </p:cNvPr>
          <p:cNvSpPr>
            <a:spLocks noGrp="1"/>
          </p:cNvSpPr>
          <p:nvPr/>
        </p:nvSpPr>
        <p:spPr>
          <a:xfrm>
            <a:off x="453390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研究切入点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Methods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50FC7544-B0D6-4BE2-9FA3-43FFA4F1C4EA}"/>
              </a:ext>
            </a:extLst>
          </p:cNvPr>
          <p:cNvSpPr>
            <a:spLocks noGrp="1"/>
          </p:cNvSpPr>
          <p:nvPr/>
        </p:nvSpPr>
        <p:spPr>
          <a:xfrm>
            <a:off x="453390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5ABEA79-61E1-4BFC-AF55-02C7564234B0}"/>
              </a:ext>
            </a:extLst>
          </p:cNvPr>
          <p:cNvSpPr>
            <a:spLocks noGrp="1"/>
          </p:cNvSpPr>
          <p:nvPr/>
        </p:nvSpPr>
        <p:spPr>
          <a:xfrm>
            <a:off x="453390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Token 筛选与压缩、注意力改进；
高效适配、特征融合与训练策略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86E42BCF-9DE7-43C1-8A44-E343F49A2C42}"/>
              </a:ext>
            </a:extLst>
          </p:cNvPr>
          <p:cNvSpPr>
            <a:spLocks noGrp="1"/>
          </p:cNvSpPr>
          <p:nvPr/>
        </p:nvSpPr>
        <p:spPr>
          <a:xfrm>
            <a:off x="8210550" y="2333625"/>
            <a:ext cx="3581400" cy="3238500"/>
          </a:xfrm>
          <a:prstGeom prst="roundRect">
            <a:avLst>
              <a:gd name="adj" fmla="val 5294"/>
            </a:avLst>
          </a:prstGeom>
          <a:solidFill>
            <a:srgbClr val="F5F7FA"/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5F632DB-A3B3-4307-B9B6-E0F4E48DF531}"/>
              </a:ext>
            </a:extLst>
          </p:cNvPr>
          <p:cNvSpPr>
            <a:spLocks noGrp="1"/>
          </p:cNvSpPr>
          <p:nvPr/>
        </p:nvSpPr>
        <p:spPr>
          <a:xfrm>
            <a:off x="8439150" y="2552700"/>
            <a:ext cx="52387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A580B84-BC45-4676-B6DB-DCC01A53AA15}"/>
              </a:ext>
            </a:extLst>
          </p:cNvPr>
          <p:cNvSpPr>
            <a:spLocks noGrp="1"/>
          </p:cNvSpPr>
          <p:nvPr/>
        </p:nvSpPr>
        <p:spPr>
          <a:xfrm>
            <a:off x="8439150" y="3067050"/>
            <a:ext cx="3000375" cy="714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评价体系</a:t>
            </a:r>
          </a:p>
          <a:p>
            <a:pPr algn="l">
              <a:buNone/>
              <a:def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Evaluation</a:t>
            </a:r>
          </a:p>
        </p:txBody>
      </p:sp>
      <p:sp>
        <p:nvSpPr>
          <p:cNvPr id="19" name="直接连接符 18">
            <a:extLst>
              <a:ext uri="{FF2B5EF4-FFF2-40B4-BE49-F238E27FC236}">
                <a16:creationId xmlns:a16="http://schemas.microsoft.com/office/drawing/2014/main" id="{571E74F3-A767-4C1A-9409-A65A756DAB1C}"/>
              </a:ext>
            </a:extLst>
          </p:cNvPr>
          <p:cNvSpPr>
            <a:spLocks noGrp="1"/>
          </p:cNvSpPr>
          <p:nvPr/>
        </p:nvSpPr>
        <p:spPr>
          <a:xfrm>
            <a:off x="8439150" y="3962400"/>
            <a:ext cx="31242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C506CB2-D110-4EC6-96E2-2E2A7A9F6C1F}"/>
              </a:ext>
            </a:extLst>
          </p:cNvPr>
          <p:cNvSpPr>
            <a:spLocks noGrp="1"/>
          </p:cNvSpPr>
          <p:nvPr/>
        </p:nvSpPr>
        <p:spPr>
          <a:xfrm>
            <a:off x="8439150" y="4219575"/>
            <a:ext cx="3105150" cy="952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任务指标 + 多随机种子；
参数量、FLOPs、显存、吞吐与延迟</a:t>
            </a: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BF4F4F50-4BC3-45D8-9795-8366F88D7FA0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400050"/>
          </a:xfrm>
          <a:prstGeom prst="roundRect">
            <a:avLst>
              <a:gd name="adj" fmla="val 28571"/>
            </a:avLst>
          </a:prstGeom>
          <a:solidFill>
            <a:srgbClr val="E8F1FF"/>
          </a:solidFill>
          <a:ln w="0">
            <a:solidFill>
              <a:srgbClr val="E8F1F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54AC370-8081-4260-8938-B023B3E921E7}"/>
              </a:ext>
            </a:extLst>
          </p:cNvPr>
          <p:cNvSpPr>
            <a:spLocks noGrp="1"/>
          </p:cNvSpPr>
          <p:nvPr/>
        </p:nvSpPr>
        <p:spPr>
          <a:xfrm>
            <a:off x="590550" y="5915025"/>
            <a:ext cx="110109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研究路径：可信基线 → 瓶颈分析 → 结构 / 训练优化 → 多任务与跨数据集验证</a:t>
            </a:r>
          </a:p>
        </p:txBody>
      </p:sp>
    </p:spTree>
    <p:extLst>
      <p:ext uri="{BB962C8B-B14F-4D97-AF65-F5344CB8AC3E}">
        <p14:creationId xmlns:p14="http://schemas.microsoft.com/office/powerpoint/2010/main" val="1927571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51F5918A-FF8E-49EB-83DB-434A4BEA5863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49530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PHASE CONCLUSION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66A857F-8C37-4F40-8771-ACDF38DF0E33}"/>
              </a:ext>
            </a:extLst>
          </p:cNvPr>
          <p:cNvSpPr>
            <a:spLocks noGrp="1"/>
          </p:cNvSpPr>
          <p:nvPr/>
        </p:nvSpPr>
        <p:spPr>
          <a:xfrm>
            <a:off x="400050" y="1066800"/>
            <a:ext cx="10001250" cy="1428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35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当前用 AA-CLIP 建立研究方法，</a:t>
            </a:r>
          </a:p>
          <a:p>
            <a:pPr algn="l">
              <a:buNone/>
              <a:defRPr sz="35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未来面向更广泛的模型性能优化。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DC753728-DEFC-49C2-B8FC-4FD76434C780}"/>
              </a:ext>
            </a:extLst>
          </p:cNvPr>
          <p:cNvSpPr>
            <a:spLocks noGrp="1"/>
          </p:cNvSpPr>
          <p:nvPr/>
        </p:nvSpPr>
        <p:spPr>
          <a:xfrm>
            <a:off x="400050" y="2857500"/>
            <a:ext cx="11391900" cy="0"/>
          </a:xfrm>
          <a:prstGeom prst="line">
            <a:avLst/>
          </a:prstGeom>
          <a:solidFill>
            <a:srgbClr val="000000">
              <a:alpha val="0"/>
            </a:srgbClr>
          </a:solidFill>
          <a:ln w="9525">
            <a:solidFill>
              <a:srgbClr val="B8BCC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DC04157-7FD2-4C05-9554-6748E9CEB7B8}"/>
              </a:ext>
            </a:extLst>
          </p:cNvPr>
          <p:cNvSpPr>
            <a:spLocks noGrp="1"/>
          </p:cNvSpPr>
          <p:nvPr/>
        </p:nvSpPr>
        <p:spPr>
          <a:xfrm>
            <a:off x="40005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当前载体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CD0F1D1-183D-4653-9968-11D04B2BF4A4}"/>
              </a:ext>
            </a:extLst>
          </p:cNvPr>
          <p:cNvSpPr>
            <a:spLocks noGrp="1"/>
          </p:cNvSpPr>
          <p:nvPr/>
        </p:nvSpPr>
        <p:spPr>
          <a:xfrm>
            <a:off x="40005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AA-CLIP 与异常检测用于训练复现与实验设计。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6E4C79E-BC70-40AB-8D92-1ACE5439B7D0}"/>
              </a:ext>
            </a:extLst>
          </p:cNvPr>
          <p:cNvSpPr>
            <a:spLocks noGrp="1"/>
          </p:cNvSpPr>
          <p:nvPr/>
        </p:nvSpPr>
        <p:spPr>
          <a:xfrm>
            <a:off x="422910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99448EA-7DFD-402C-A00B-F750A50A6DBE}"/>
              </a:ext>
            </a:extLst>
          </p:cNvPr>
          <p:cNvSpPr>
            <a:spLocks noGrp="1"/>
          </p:cNvSpPr>
          <p:nvPr/>
        </p:nvSpPr>
        <p:spPr>
          <a:xfrm>
            <a:off x="422910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定位瓶颈、设计变量，并用公平对照解释性能差异。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FFD934F-33A8-4312-927C-D1883A374A61}"/>
              </a:ext>
            </a:extLst>
          </p:cNvPr>
          <p:cNvSpPr>
            <a:spLocks noGrp="1"/>
          </p:cNvSpPr>
          <p:nvPr/>
        </p:nvSpPr>
        <p:spPr>
          <a:xfrm>
            <a:off x="8058150" y="3333750"/>
            <a:ext cx="3333750" cy="33337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未来方向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111953F-6B24-42B3-8B10-937CB4D67E71}"/>
              </a:ext>
            </a:extLst>
          </p:cNvPr>
          <p:cNvSpPr>
            <a:spLocks noGrp="1"/>
          </p:cNvSpPr>
          <p:nvPr/>
        </p:nvSpPr>
        <p:spPr>
          <a:xfrm>
            <a:off x="8058150" y="3810000"/>
            <a:ext cx="333375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不限定任务场景，持续优化精度、效率、泛化与鲁棒性。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93521E8-F080-42B9-A592-51A31608264C}"/>
              </a:ext>
            </a:extLst>
          </p:cNvPr>
          <p:cNvSpPr>
            <a:spLocks noGrp="1"/>
          </p:cNvSpPr>
          <p:nvPr/>
        </p:nvSpPr>
        <p:spPr>
          <a:xfrm>
            <a:off x="400050" y="4953000"/>
            <a:ext cx="11391900" cy="971550"/>
          </a:xfrm>
          <a:prstGeom prst="roundRect">
            <a:avLst>
              <a:gd name="adj" fmla="val 15686"/>
            </a:avLst>
          </a:prstGeom>
          <a:solidFill>
            <a:srgbClr val="F5F7FA"/>
          </a:solidFill>
          <a:ln w="0">
            <a:solidFill>
              <a:srgbClr val="F5F7F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96ADF1E-6863-438E-9169-EC530FD2DFC2}"/>
              </a:ext>
            </a:extLst>
          </p:cNvPr>
          <p:cNvSpPr>
            <a:spLocks noGrp="1"/>
          </p:cNvSpPr>
          <p:nvPr/>
        </p:nvSpPr>
        <p:spPr>
          <a:xfrm>
            <a:off x="628650" y="5191125"/>
            <a:ext cx="10934700" cy="571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Baseline first. Diagnose bottlenecks.</a:t>
            </a:r>
          </a:p>
          <a:p>
            <a:pPr algn="ctr">
              <a:buNone/>
              <a:def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Optimize performance.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5914A02-3861-4524-B387-FEB8A262503D}"/>
              </a:ext>
            </a:extLst>
          </p:cNvPr>
          <p:cNvSpPr>
            <a:spLocks noGrp="1"/>
          </p:cNvSpPr>
          <p:nvPr/>
        </p:nvSpPr>
        <p:spPr>
          <a:xfrm>
            <a:off x="400050" y="6381750"/>
            <a:ext cx="6667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 dirty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AA-CLIP · Wednesday group meeting by Rpc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081869-4BD2-43EB-ADAA-D3A129E17FC2}"/>
              </a:ext>
            </a:extLst>
          </p:cNvPr>
          <p:cNvSpPr>
            <a:spLocks noGrp="1"/>
          </p:cNvSpPr>
          <p:nvPr/>
        </p:nvSpPr>
        <p:spPr>
          <a:xfrm>
            <a:off x="11239500" y="6381750"/>
            <a:ext cx="552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buNone/>
              <a:def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F6672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6216096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1398</Words>
  <Application>Microsoft Office PowerPoint</Application>
  <DocSecurity>0</DocSecurity>
  <PresentationFormat>宽屏</PresentationFormat>
  <Paragraphs>307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0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485207566@qq.com</cp:lastModifiedBy>
  <cp:revision>10</cp:revision>
  <dcterms:created xsi:type="dcterms:W3CDTF">2026-08-12T05:36:47Z</dcterms:created>
  <dcterms:modified xsi:type="dcterms:W3CDTF">2026-08-12T10:56:24Z</dcterms:modified>
</cp:coreProperties>
</file>