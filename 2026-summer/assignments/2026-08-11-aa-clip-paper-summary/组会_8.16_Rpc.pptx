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weekly work, reproduction report, and research plan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weekly work, reproduction report, and research plan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https://arxiv.org/abs/2106.02034</a:t>
            </a:r>
          </a:p>
          <a:p>
            <a:r>
              <a:t>- https://arxiv.org/abs/2202.07800</a:t>
            </a:r>
          </a:p>
          <a:p>
            <a:r>
              <a:t>- https://openreview.net/forum?id=JroZRaRw7Eu</a:t>
            </a:r>
          </a:p>
          <a:p>
            <a:r>
              <a:t>- https://arxiv.org/abs/2410.04417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https://arxiv.org/abs/2106.02034</a:t>
            </a:r>
          </a:p>
          <a:p>
            <a:r>
              <a:t>- https://arxiv.org/abs/2202.07800</a:t>
            </a:r>
          </a:p>
          <a:p>
            <a:r>
              <a:t>- https://openreview.net/forum?id=JroZRaRw7Eu</a:t>
            </a:r>
          </a:p>
          <a:p>
            <a:r>
              <a:t>- https://arxiv.org/abs/2410.04417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https://arxiv.org/abs/2503.06661</a:t>
            </a:r>
          </a:p>
          <a:p>
            <a:r>
              <a:t>- https://github.com/Mwxinnn/AA-CLIP</a:t>
            </a:r>
          </a:p>
          <a:p>
            <a:r>
              <a:t>- AA-CLIP_复现报告.md（2026-08-16）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WSL2/ROCm installation and verification record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weekly work, reproduction report, and research plan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weekly work, reproduction report, and research plan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1F5918A-FF8E-49EB-83DB-434A4BEA586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WEEKLY RESEARCH UPDATE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6A857F-8C37-4F40-8771-ACDF38DF0E33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0001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组内周汇报</a:t>
            </a:r>
            <a:endParaRPr sz="3525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buNone/>
              <a:defRPr sz="35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525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复现闭环、ROCm</a:t>
            </a:r>
            <a:r>
              <a:rPr sz="3525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3525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环境与</a:t>
            </a:r>
            <a:r>
              <a:rPr sz="3525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Token </a:t>
            </a:r>
            <a:r>
              <a:rPr sz="3525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压缩阅读</a:t>
            </a:r>
            <a:endParaRPr sz="3525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C753728-DEFC-49C2-B8FC-4FD76434C780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C04157-7FD2-4C05-9554-6748E9CEB7B8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3333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方法与阅读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D0F1D1-183D-4653-9968-11D04B2BF4A4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3333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Token 压缩论文递进关系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4C79E-BC70-40AB-8D92-1ACE5439B7D0}"/>
              </a:ext>
            </a:extLst>
          </p:cNvPr>
          <p:cNvSpPr>
            <a:spLocks noGrp="1"/>
          </p:cNvSpPr>
          <p:nvPr/>
        </p:nvSpPr>
        <p:spPr>
          <a:xfrm>
            <a:off x="4229100" y="3333750"/>
            <a:ext cx="3333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实验复现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9448EA-7DFD-402C-A00B-F750A50A6DBE}"/>
              </a:ext>
            </a:extLst>
          </p:cNvPr>
          <p:cNvSpPr>
            <a:spLocks noGrp="1"/>
          </p:cNvSpPr>
          <p:nvPr/>
        </p:nvSpPr>
        <p:spPr>
          <a:xfrm>
            <a:off x="4229100" y="3810000"/>
            <a:ext cx="3333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论文复现已完成并形成报告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FD934F-33A8-4312-927C-D1883A374A61}"/>
              </a:ext>
            </a:extLst>
          </p:cNvPr>
          <p:cNvSpPr>
            <a:spLocks noGrp="1"/>
          </p:cNvSpPr>
          <p:nvPr/>
        </p:nvSpPr>
        <p:spPr>
          <a:xfrm>
            <a:off x="8058150" y="3333750"/>
            <a:ext cx="3333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计算环境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11953F-6B24-42B3-8B10-937CB4D67E71}"/>
              </a:ext>
            </a:extLst>
          </p:cNvPr>
          <p:cNvSpPr>
            <a:spLocks noGrp="1"/>
          </p:cNvSpPr>
          <p:nvPr/>
        </p:nvSpPr>
        <p:spPr>
          <a:xfrm>
            <a:off x="8058150" y="3810000"/>
            <a:ext cx="3333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WSL2 + ROCm 本地 GPU 环境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93521E8-F080-42B9-A592-51A31608264C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11391900" cy="971550"/>
          </a:xfrm>
          <a:prstGeom prst="roundRect">
            <a:avLst>
              <a:gd name="adj" fmla="val 15686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6ADF1E-6863-438E-9169-EC530FD2DFC2}"/>
              </a:ext>
            </a:extLst>
          </p:cNvPr>
          <p:cNvSpPr>
            <a:spLocks noGrp="1"/>
          </p:cNvSpPr>
          <p:nvPr/>
        </p:nvSpPr>
        <p:spPr>
          <a:xfrm>
            <a:off x="628650" y="5191125"/>
            <a:ext cx="10934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本周主线：从“理解一篇论文”推进到</a:t>
            </a:r>
            <a:endParaRPr sz="1575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  <a:p>
            <a:pPr algn="ctr">
              <a:buNone/>
              <a:defRPr sz="15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“</a:t>
            </a:r>
            <a:r>
              <a:rPr sz="1575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可运行、可比较、可继续优化</a:t>
            </a:r>
            <a:r>
              <a:rPr sz="1575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”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914A02-3861-4524-B387-FEB8A262503D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汇报人：Rpc · 2026-08-15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081869-4BD2-43EB-ADAA-D3A129E17FC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160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280D3E5-8181-4DAA-8B38-6939E134A14C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WEEKLY WORK · CLOSED LOOP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DEEDC3-4C39-43DE-A3A8-0BB779A772A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本周工作总览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F8C1C0F-3961-4453-89E4-1CA803DF4DAC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A93673-4EA1-488A-BBFF-D0D60DA5CE0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38369F-63BF-4154-A5CE-FA7DCC88C137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本周工作围绕“可信基线</a:t>
            </a:r>
            <a:r>
              <a:rPr sz="15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—</a:t>
            </a: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计算环境</a:t>
            </a:r>
            <a:r>
              <a:rPr sz="15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—</a:t>
            </a: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研究问题”展开，并形成可继续推进的闭环</a:t>
            </a:r>
            <a:r>
              <a:rPr sz="15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4A943-E414-4075-98F4-0B2A04617956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15E9A-719A-47F6-BBE2-E00E8ED59536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658BE9-6652-4877-9184-AEEE082F264E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论文阅读</a:t>
            </a:r>
            <a:endParaRPr sz="1800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Literature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E225E798-332D-4FAB-A41E-7D651083B886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79874-8107-4FFF-B577-FAD0C920D9A3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DynamicViT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→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EViT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→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ToMe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→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SparseVLM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从剪枝走向任务感知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FC96DE-18FB-4170-9142-70B4C04F5D4D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D3BCD-A626-4BC7-AD66-8C97767BD5A4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C39375-6BAA-4D18-A27E-DFD7CD9D30B0}"/>
              </a:ext>
            </a:extLst>
          </p:cNvPr>
          <p:cNvSpPr>
            <a:spLocks noGrp="1"/>
          </p:cNvSpPr>
          <p:nvPr/>
        </p:nvSpPr>
        <p:spPr>
          <a:xfrm>
            <a:off x="453390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复现验证</a:t>
            </a:r>
            <a:endParaRPr sz="1800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Reproduction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0FC7544-B0D6-4BE2-9FA3-43FFA4F1C4EA}"/>
              </a:ext>
            </a:extLst>
          </p:cNvPr>
          <p:cNvSpPr>
            <a:spLocks noGrp="1"/>
          </p:cNvSpPr>
          <p:nvPr/>
        </p:nvSpPr>
        <p:spPr>
          <a:xfrm>
            <a:off x="453390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ABEA79-61E1-4BFC-AF55-02C7564234B0}"/>
              </a:ext>
            </a:extLst>
          </p:cNvPr>
          <p:cNvSpPr>
            <a:spLocks noGrp="1"/>
          </p:cNvSpPr>
          <p:nvPr/>
        </p:nvSpPr>
        <p:spPr>
          <a:xfrm>
            <a:off x="453390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官方代码链路完成；形成</a:t>
            </a:r>
            <a:endParaRPr sz="1275" b="0" dirty="0">
              <a:solidFill>
                <a:srgbClr val="5F6672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指标对比、运行记录与偏差分析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E42BCF-9DE7-43C1-8A44-E343F49A2C42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F632DB-A3B3-4307-B9B6-E0F4E48DF531}"/>
              </a:ext>
            </a:extLst>
          </p:cNvPr>
          <p:cNvSpPr>
            <a:spLocks noGrp="1"/>
          </p:cNvSpPr>
          <p:nvPr/>
        </p:nvSpPr>
        <p:spPr>
          <a:xfrm>
            <a:off x="84391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580B84-BC45-4676-B6DB-DCC01A53AA15}"/>
              </a:ext>
            </a:extLst>
          </p:cNvPr>
          <p:cNvSpPr>
            <a:spLocks noGrp="1"/>
          </p:cNvSpPr>
          <p:nvPr/>
        </p:nvSpPr>
        <p:spPr>
          <a:xfrm>
            <a:off x="84391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环境与方向</a:t>
            </a:r>
            <a:endParaRPr sz="1800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System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71E74F3-A767-4C1A-9409-A65A756DAB1C}"/>
              </a:ext>
            </a:extLst>
          </p:cNvPr>
          <p:cNvSpPr>
            <a:spLocks noGrp="1"/>
          </p:cNvSpPr>
          <p:nvPr/>
        </p:nvSpPr>
        <p:spPr>
          <a:xfrm>
            <a:off x="84391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506CB2-D110-4EC6-96E2-2E2A7A9F6C1F}"/>
              </a:ext>
            </a:extLst>
          </p:cNvPr>
          <p:cNvSpPr>
            <a:spLocks noGrp="1"/>
          </p:cNvSpPr>
          <p:nvPr/>
        </p:nvSpPr>
        <p:spPr>
          <a:xfrm>
            <a:off x="84391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WSL2 +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ROCm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已搭建；研究聚焦</a:t>
            </a:r>
            <a:endParaRPr sz="1275" b="0" dirty="0">
              <a:solidFill>
                <a:srgbClr val="5F6672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视觉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/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多模态系统性能优化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F4F4F50-4BC3-45D8-9795-8366F88D7FA0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400050"/>
          </a:xfrm>
          <a:prstGeom prst="roundRect">
            <a:avLst>
              <a:gd name="adj" fmla="val 28571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4AC370-8081-4260-8938-B023B3E921E7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11010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本周产出：复现报告 + 阅读地图 + 本地 AMD 计算环境 + 下一步实验问题</a:t>
            </a:r>
          </a:p>
        </p:txBody>
      </p:sp>
    </p:spTree>
    <p:extLst>
      <p:ext uri="{BB962C8B-B14F-4D97-AF65-F5344CB8AC3E}">
        <p14:creationId xmlns:p14="http://schemas.microsoft.com/office/powerpoint/2010/main" val="192757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A47871E-8ADE-464D-83C8-4A1E5CE86D8D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LITERATURE · PROGRESSION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10E854-E314-49B2-B311-4043C24D46AF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论文阅读递进：从“删</a:t>
            </a:r>
            <a:r>
              <a:rPr sz="255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255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Token”到任务感知压缩</a:t>
            </a:r>
            <a:endParaRPr sz="2550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0C481A8-C4FC-411D-8934-DF778DCB9936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133CD5-828C-4267-A678-05299960F120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6BA2FCF8-979C-4664-9E28-AC3C88E7CB2F}"/>
              </a:ext>
            </a:extLst>
          </p:cNvPr>
          <p:cNvSpPr>
            <a:spLocks noGrp="1"/>
          </p:cNvSpPr>
          <p:nvPr/>
        </p:nvSpPr>
        <p:spPr>
          <a:xfrm>
            <a:off x="3590925" y="2714625"/>
            <a:ext cx="495300" cy="32385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E37CF59-6505-412B-8682-447FF4BB13A8}"/>
              </a:ext>
            </a:extLst>
          </p:cNvPr>
          <p:cNvSpPr>
            <a:spLocks noGrp="1"/>
          </p:cNvSpPr>
          <p:nvPr/>
        </p:nvSpPr>
        <p:spPr>
          <a:xfrm>
            <a:off x="7486650" y="2714625"/>
            <a:ext cx="495300" cy="32385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40BDD90-490E-4E8A-BE03-8C1863B097B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F70771-9697-434C-9B86-13FC86EADBE2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dirty="0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01  </a:t>
            </a:r>
            <a:r>
              <a:rPr sz="1275" b="1" dirty="0" err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DynamicViT</a:t>
            </a:r>
            <a:endParaRPr lang="en-US" sz="1275" b="1" dirty="0">
              <a:solidFill>
                <a:srgbClr val="3D8DFF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endParaRPr sz="1275" b="1" dirty="0">
              <a:solidFill>
                <a:srgbClr val="3D8DFF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82D73E-DE0B-42BA-BC69-CE15B836AE09}"/>
              </a:ext>
            </a:extLst>
          </p:cNvPr>
          <p:cNvSpPr>
            <a:spLocks noGrp="1"/>
          </p:cNvSpPr>
          <p:nvPr/>
        </p:nvSpPr>
        <p:spPr>
          <a:xfrm>
            <a:off x="6286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输入自适应剪枝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B397F3-D30A-4140-900B-2F2DD3E66216}"/>
              </a:ext>
            </a:extLst>
          </p:cNvPr>
          <p:cNvSpPr>
            <a:spLocks noGrp="1"/>
          </p:cNvSpPr>
          <p:nvPr/>
        </p:nvSpPr>
        <p:spPr>
          <a:xfrm>
            <a:off x="6286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按输入学习每个 Token 是否保留。
核心问题：哪些 Token 可以删？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B830DAD-07DA-4271-A5B7-CCF2B1EEB238}"/>
              </a:ext>
            </a:extLst>
          </p:cNvPr>
          <p:cNvSpPr>
            <a:spLocks noGrp="1"/>
          </p:cNvSpPr>
          <p:nvPr/>
        </p:nvSpPr>
        <p:spPr>
          <a:xfrm>
            <a:off x="42481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857294-99C1-4166-9771-240859462F05}"/>
              </a:ext>
            </a:extLst>
          </p:cNvPr>
          <p:cNvSpPr>
            <a:spLocks noGrp="1"/>
          </p:cNvSpPr>
          <p:nvPr/>
        </p:nvSpPr>
        <p:spPr>
          <a:xfrm>
            <a:off x="44767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02  EViT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4282A5-1E83-4A9C-AAD8-2EFD42911267}"/>
              </a:ext>
            </a:extLst>
          </p:cNvPr>
          <p:cNvSpPr>
            <a:spLocks noGrp="1"/>
          </p:cNvSpPr>
          <p:nvPr/>
        </p:nvSpPr>
        <p:spPr>
          <a:xfrm>
            <a:off x="44767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保留 + 融合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3A3086-B26D-4CCA-9959-1114A175CBFC}"/>
              </a:ext>
            </a:extLst>
          </p:cNvPr>
          <p:cNvSpPr>
            <a:spLocks noGrp="1"/>
          </p:cNvSpPr>
          <p:nvPr/>
        </p:nvSpPr>
        <p:spPr>
          <a:xfrm>
            <a:off x="44767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保留高注意力 Token，融合其余信息。
核心问题：删除后如何保住全局信息？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2469C2B-FFB7-4CED-B0C1-6855B52C8AB1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EBD8D7-98BB-4280-B922-77086FB24465}"/>
              </a:ext>
            </a:extLst>
          </p:cNvPr>
          <p:cNvSpPr>
            <a:spLocks noGrp="1"/>
          </p:cNvSpPr>
          <p:nvPr/>
        </p:nvSpPr>
        <p:spPr>
          <a:xfrm>
            <a:off x="83248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03  ToMe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929072-751C-4766-A1BB-57ACA144B657}"/>
              </a:ext>
            </a:extLst>
          </p:cNvPr>
          <p:cNvSpPr>
            <a:spLocks noGrp="1"/>
          </p:cNvSpPr>
          <p:nvPr/>
        </p:nvSpPr>
        <p:spPr>
          <a:xfrm>
            <a:off x="83248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相似 Token 合并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6AFAC0-474E-4300-91C0-8F0B82D8B57C}"/>
              </a:ext>
            </a:extLst>
          </p:cNvPr>
          <p:cNvSpPr>
            <a:spLocks noGrp="1"/>
          </p:cNvSpPr>
          <p:nvPr/>
        </p:nvSpPr>
        <p:spPr>
          <a:xfrm>
            <a:off x="83248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不判断重要性，直接合并相似 Token。
核心问题：能否免训练获得真实加速？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1998274-021B-450D-9067-0878F3AC5F2F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1391900" cy="1200150"/>
          </a:xfrm>
          <a:prstGeom prst="roundRect">
            <a:avLst>
              <a:gd name="adj" fmla="val 12698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F6AF6D-0FF5-4F1B-8588-7B8EC16D4B6B}"/>
              </a:ext>
            </a:extLst>
          </p:cNvPr>
          <p:cNvSpPr>
            <a:spLocks noGrp="1"/>
          </p:cNvSpPr>
          <p:nvPr/>
        </p:nvSpPr>
        <p:spPr>
          <a:xfrm>
            <a:off x="628650" y="497205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04  SparseVLM · 进入多模态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FCEABC-C675-41DA-9814-289D9721F7F3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6715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文本引导稀疏化 + 分层比例 + Token recycling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469E0A-9F5C-4570-BAE6-C373CB008AF5}"/>
              </a:ext>
            </a:extLst>
          </p:cNvPr>
          <p:cNvSpPr>
            <a:spLocks noGrp="1"/>
          </p:cNvSpPr>
          <p:nvPr/>
        </p:nvSpPr>
        <p:spPr>
          <a:xfrm>
            <a:off x="8477250" y="516255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任务不同</a:t>
            </a:r>
          </a:p>
          <a:p>
            <a:pPr algn="r">
              <a:buNone/>
              <a:def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该保留哪些视觉 Token？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ECD6F1-8C6F-498C-A1E9-763F6987B9B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DynamicViT → EViT → ToMe → SparseVLM · 删除 → 信息保留 → 免训练 → 任务感知</a:t>
            </a:r>
          </a:p>
        </p:txBody>
      </p:sp>
    </p:spTree>
    <p:extLst>
      <p:ext uri="{BB962C8B-B14F-4D97-AF65-F5344CB8AC3E}">
        <p14:creationId xmlns:p14="http://schemas.microsoft.com/office/powerpoint/2010/main" val="96576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280D3E5-8181-4DAA-8B38-6939E134A14C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READING · SYNTHESIS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DEEDC3-4C39-43DE-A3A8-0BB779A772A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四篇论文给出的共同</a:t>
            </a:r>
            <a:r>
              <a:rPr lang="zh-CN" altLang="en-US" sz="255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结论</a:t>
            </a:r>
            <a:r>
              <a:rPr sz="255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与研究空白</a:t>
            </a:r>
            <a:endParaRPr sz="2550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F8C1C0F-3961-4453-89E4-1CA803DF4DAC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A93673-4EA1-488A-BBFF-D0D60DA5CE0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38369F-63BF-4154-A5CE-FA7DCC88C137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这些方法不是简单替代关系，而是在逐步补上删除、信息保留和任务相关性</a:t>
            </a:r>
            <a:r>
              <a:rPr sz="15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4A943-E414-4075-98F4-0B2A04617956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15E9A-719A-47F6-BBE2-E00E8ED59536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658BE9-6652-4877-9184-AEEE082F264E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共同</a:t>
            </a:r>
            <a:r>
              <a:rPr lang="zh-CN" altLang="en-US" sz="18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结论</a:t>
            </a:r>
            <a:endParaRPr sz="1800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Common ground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E225E798-332D-4FAB-A41E-7D651083B886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79874-8107-4FFF-B577-FAD0C920D9A3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冗余 Token 确实存在；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计算应随输入动态分配。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FC96DE-18FB-4170-9142-70B4C04F5D4D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D3BCD-A626-4BC7-AD66-8C97767BD5A4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C39375-6BAA-4D18-A27E-DFD7CD9D30B0}"/>
              </a:ext>
            </a:extLst>
          </p:cNvPr>
          <p:cNvSpPr>
            <a:spLocks noGrp="1"/>
          </p:cNvSpPr>
          <p:nvPr/>
        </p:nvSpPr>
        <p:spPr>
          <a:xfrm>
            <a:off x="453390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尚未解决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Open question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0FC7544-B0D6-4BE2-9FA3-43FFA4F1C4EA}"/>
              </a:ext>
            </a:extLst>
          </p:cNvPr>
          <p:cNvSpPr>
            <a:spLocks noGrp="1"/>
          </p:cNvSpPr>
          <p:nvPr/>
        </p:nvSpPr>
        <p:spPr>
          <a:xfrm>
            <a:off x="453390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ABEA79-61E1-4BFC-AF55-02C7564234B0}"/>
              </a:ext>
            </a:extLst>
          </p:cNvPr>
          <p:cNvSpPr>
            <a:spLocks noGrp="1"/>
          </p:cNvSpPr>
          <p:nvPr/>
        </p:nvSpPr>
        <p:spPr>
          <a:xfrm>
            <a:off x="453390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低注意力 ≠ 无信息；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速度、精度与真实硬件收益仍有落差。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E42BCF-9DE7-43C1-8A44-E343F49A2C42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F632DB-A3B3-4307-B9B6-E0F4E48DF531}"/>
              </a:ext>
            </a:extLst>
          </p:cNvPr>
          <p:cNvSpPr>
            <a:spLocks noGrp="1"/>
          </p:cNvSpPr>
          <p:nvPr/>
        </p:nvSpPr>
        <p:spPr>
          <a:xfrm>
            <a:off x="84391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580B84-BC45-4676-B6DB-DCC01A53AA15}"/>
              </a:ext>
            </a:extLst>
          </p:cNvPr>
          <p:cNvSpPr>
            <a:spLocks noGrp="1"/>
          </p:cNvSpPr>
          <p:nvPr/>
        </p:nvSpPr>
        <p:spPr>
          <a:xfrm>
            <a:off x="84391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我的切入点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My hypothesis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71E74F3-A767-4C1A-9409-A65A756DAB1C}"/>
              </a:ext>
            </a:extLst>
          </p:cNvPr>
          <p:cNvSpPr>
            <a:spLocks noGrp="1"/>
          </p:cNvSpPr>
          <p:nvPr/>
        </p:nvSpPr>
        <p:spPr>
          <a:xfrm>
            <a:off x="84391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506CB2-D110-4EC6-96E2-2E2A7A9F6C1F}"/>
              </a:ext>
            </a:extLst>
          </p:cNvPr>
          <p:cNvSpPr>
            <a:spLocks noGrp="1"/>
          </p:cNvSpPr>
          <p:nvPr/>
        </p:nvSpPr>
        <p:spPr>
          <a:xfrm>
            <a:off x="84391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动态筛选 + 信息聚合 / 回收；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按任务与层自适应分配预算。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F4F4F50-4BC3-45D8-9795-8366F88D7FA0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400050"/>
          </a:xfrm>
          <a:prstGeom prst="roundRect">
            <a:avLst>
              <a:gd name="adj" fmla="val 28571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4AC370-8081-4260-8938-B023B3E921E7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11010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验证标准：固定计算预算，同时比较任务质量、FLOPs、显存、延迟与吞吐</a:t>
            </a:r>
          </a:p>
        </p:txBody>
      </p:sp>
    </p:spTree>
    <p:extLst>
      <p:ext uri="{BB962C8B-B14F-4D97-AF65-F5344CB8AC3E}">
        <p14:creationId xmlns:p14="http://schemas.microsoft.com/office/powerpoint/2010/main" val="1927571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9B196457-B496-4FF4-A133-4D709DF897AE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REPRODUCTION · EXACT COMPARISON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2E527C-A846-4990-9B26-8A52A311E42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en-US" altLang="zh-CN" sz="255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AA-Clip</a:t>
            </a:r>
            <a:r>
              <a:rPr sz="255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同口径复现对比：本地值</a:t>
            </a:r>
            <a:r>
              <a:rPr sz="255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vs </a:t>
            </a:r>
            <a:r>
              <a:rPr sz="255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论文值</a:t>
            </a:r>
            <a:endParaRPr sz="2550" b="1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AE2BDE7-9023-4FE8-AD62-F2BE907D95CB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41A3F0-3451-43A7-9DCF-B4C5189DEE92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D24769-21B5-405C-9353-A6611E25A009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VisA→MVTec</a:t>
            </a:r>
            <a:r>
              <a:rPr sz="18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· RTX 3090 · 518² · seed 111；每项均为 </a:t>
            </a:r>
            <a:r>
              <a:rPr sz="180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本地</a:t>
            </a:r>
            <a:r>
              <a:rPr sz="18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/ </a:t>
            </a:r>
            <a:r>
              <a:rPr sz="180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论文</a:t>
            </a:r>
            <a:r>
              <a:rPr sz="18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/ </a:t>
            </a:r>
            <a:r>
              <a:rPr sz="180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Δ（百分点</a:t>
            </a:r>
            <a:r>
              <a:rPr sz="180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E84D181-75C2-4A25-8A35-E81573D7A997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5524500" cy="3295650"/>
          </a:xfrm>
          <a:prstGeom prst="roundRect">
            <a:avLst>
              <a:gd name="adj" fmla="val 5202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CC60EA-F90A-401B-87CA-BD2B740115DD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64E8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64E8A"/>
                </a:solidFill>
                <a:latin typeface="Noto Sans CJK SC"/>
                <a:ea typeface="Noto Sans CJK SC"/>
                <a:cs typeface="Noto Sans CJK SC"/>
              </a:rPr>
              <a:t>Pixel AUROC｜本地 / 论文 / Δ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8037120-CF61-4A91-B125-869BDD3425A0}"/>
              </a:ext>
            </a:extLst>
          </p:cNvPr>
          <p:cNvSpPr>
            <a:spLocks noGrp="1"/>
          </p:cNvSpPr>
          <p:nvPr/>
        </p:nvSpPr>
        <p:spPr>
          <a:xfrm>
            <a:off x="647700" y="32004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A8E303-81BB-4959-8ACB-474F06496D06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2-shot　90.02 / 91.0 / −0.98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B1D9B75-79E4-4253-9F00-C1E5A786678D}"/>
              </a:ext>
            </a:extLst>
          </p:cNvPr>
          <p:cNvSpPr>
            <a:spLocks noGrp="1"/>
          </p:cNvSpPr>
          <p:nvPr/>
        </p:nvSpPr>
        <p:spPr>
          <a:xfrm>
            <a:off x="647700" y="38766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4F3882-FB2A-4CCE-A012-A0E27EE4B59E}"/>
              </a:ext>
            </a:extLst>
          </p:cNvPr>
          <p:cNvSpPr>
            <a:spLocks noGrp="1"/>
          </p:cNvSpPr>
          <p:nvPr/>
        </p:nvSpPr>
        <p:spPr>
          <a:xfrm>
            <a:off x="876300" y="3800475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16-shot　90.82 / 91.2 / −0.38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8832370-B00D-4614-9BB6-6AF66EB80B09}"/>
              </a:ext>
            </a:extLst>
          </p:cNvPr>
          <p:cNvSpPr>
            <a:spLocks noGrp="1"/>
          </p:cNvSpPr>
          <p:nvPr/>
        </p:nvSpPr>
        <p:spPr>
          <a:xfrm>
            <a:off x="647700" y="45529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36D67C-06CF-4FDE-8810-E9F505985205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64-shot　91.34 / 91.6 / −0.26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41A810-A948-4C3E-AE4A-8165ECB17EE8}"/>
              </a:ext>
            </a:extLst>
          </p:cNvPr>
          <p:cNvSpPr>
            <a:spLocks noGrp="1"/>
          </p:cNvSpPr>
          <p:nvPr/>
        </p:nvSpPr>
        <p:spPr>
          <a:xfrm>
            <a:off x="6267450" y="2209800"/>
            <a:ext cx="5524500" cy="3295650"/>
          </a:xfrm>
          <a:prstGeom prst="roundRect">
            <a:avLst>
              <a:gd name="adj" fmla="val 5202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79B28D-8E93-475A-A260-1FAF87A7D90B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Image AUROC｜本地 / 论文 / Δ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969CF27-207A-408F-94DC-24415A7C8B01}"/>
              </a:ext>
            </a:extLst>
          </p:cNvPr>
          <p:cNvSpPr>
            <a:spLocks noGrp="1"/>
          </p:cNvSpPr>
          <p:nvPr/>
        </p:nvSpPr>
        <p:spPr>
          <a:xfrm>
            <a:off x="6515100" y="3200400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FB5819-D207-4FE0-9DAD-CDFCB4964ECD}"/>
              </a:ext>
            </a:extLst>
          </p:cNvPr>
          <p:cNvSpPr>
            <a:spLocks noGrp="1"/>
          </p:cNvSpPr>
          <p:nvPr/>
        </p:nvSpPr>
        <p:spPr>
          <a:xfrm>
            <a:off x="6743700" y="312420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2-shot　78.27 / 85.9 / −7.63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F7C5A8D-FFEB-40C3-9BFC-9C3C6A7E49A0}"/>
              </a:ext>
            </a:extLst>
          </p:cNvPr>
          <p:cNvSpPr>
            <a:spLocks noGrp="1"/>
          </p:cNvSpPr>
          <p:nvPr/>
        </p:nvSpPr>
        <p:spPr>
          <a:xfrm>
            <a:off x="6515100" y="3876675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827CF4-73E3-4ED7-9B66-159F43C29761}"/>
              </a:ext>
            </a:extLst>
          </p:cNvPr>
          <p:cNvSpPr>
            <a:spLocks noGrp="1"/>
          </p:cNvSpPr>
          <p:nvPr/>
        </p:nvSpPr>
        <p:spPr>
          <a:xfrm>
            <a:off x="6743700" y="3800475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16-shot　90.36 / 89.7 / +0.66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BA37D21-94B2-4747-B380-B4C3246C2EBF}"/>
              </a:ext>
            </a:extLst>
          </p:cNvPr>
          <p:cNvSpPr>
            <a:spLocks noGrp="1"/>
          </p:cNvSpPr>
          <p:nvPr/>
        </p:nvSpPr>
        <p:spPr>
          <a:xfrm>
            <a:off x="6515100" y="4552950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9A9908-613F-4F1E-816A-92CB4397C396}"/>
              </a:ext>
            </a:extLst>
          </p:cNvPr>
          <p:cNvSpPr>
            <a:spLocks noGrp="1"/>
          </p:cNvSpPr>
          <p:nvPr/>
        </p:nvSpPr>
        <p:spPr>
          <a:xfrm>
            <a:off x="6743700" y="447675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64-shot　91.32 / 92.0 / −0.68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801D055-E1A0-46ED-AE32-1B964F0F6682}"/>
              </a:ext>
            </a:extLst>
          </p:cNvPr>
          <p:cNvSpPr>
            <a:spLocks noGrp="1"/>
          </p:cNvSpPr>
          <p:nvPr/>
        </p:nvSpPr>
        <p:spPr>
          <a:xfrm>
            <a:off x="400050" y="5791200"/>
            <a:ext cx="11391900" cy="428625"/>
          </a:xfrm>
          <a:prstGeom prst="roundRect">
            <a:avLst>
              <a:gd name="adj" fmla="val 26667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CC129E-7112-4ACD-A777-255AF7CA3D4E}"/>
              </a:ext>
            </a:extLst>
          </p:cNvPr>
          <p:cNvSpPr>
            <a:spLocks noGrp="1"/>
          </p:cNvSpPr>
          <p:nvPr/>
        </p:nvSpPr>
        <p:spPr>
          <a:xfrm>
            <a:off x="590550" y="5886450"/>
            <a:ext cx="110109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Full-shot｜Pixel</a:t>
            </a:r>
            <a:r>
              <a:rPr sz="1350" b="1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92.13 / 91.9 / +0.23 · Image 89.44 / 90.5 / −1.06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6ED9E7-D9E3-4A9E-BED2-7EE1B4A6232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反向</a:t>
            </a:r>
            <a:r>
              <a:rPr sz="82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82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MVTec→VisA：Pixel</a:t>
            </a:r>
            <a:r>
              <a:rPr sz="82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82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四档</a:t>
            </a:r>
            <a:r>
              <a:rPr sz="82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|Δ|≤1.14；Image full-shot −7.80（pcb1=46.42）</a:t>
            </a:r>
          </a:p>
        </p:txBody>
      </p:sp>
    </p:spTree>
    <p:extLst>
      <p:ext uri="{BB962C8B-B14F-4D97-AF65-F5344CB8AC3E}">
        <p14:creationId xmlns:p14="http://schemas.microsoft.com/office/powerpoint/2010/main" val="103915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A47871E-8ADE-464D-83C8-4A1E5CE86D8D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SYSTEM · WSL2 + ROCm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10E854-E314-49B2-B311-4043C24D46AF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本地 AMD 计算环境：从 Windows 到 PyTorch-HIP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0C481A8-C4FC-411D-8934-DF778DCB9936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133CD5-828C-4267-A678-05299960F120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6BA2FCF8-979C-4664-9E28-AC3C88E7CB2F}"/>
              </a:ext>
            </a:extLst>
          </p:cNvPr>
          <p:cNvSpPr>
            <a:spLocks noGrp="1"/>
          </p:cNvSpPr>
          <p:nvPr/>
        </p:nvSpPr>
        <p:spPr>
          <a:xfrm>
            <a:off x="3590925" y="2714625"/>
            <a:ext cx="495300" cy="32385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E37CF59-6505-412B-8682-447FF4BB13A8}"/>
              </a:ext>
            </a:extLst>
          </p:cNvPr>
          <p:cNvSpPr>
            <a:spLocks noGrp="1"/>
          </p:cNvSpPr>
          <p:nvPr/>
        </p:nvSpPr>
        <p:spPr>
          <a:xfrm>
            <a:off x="7486650" y="2714625"/>
            <a:ext cx="495300" cy="32385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40BDD90-490E-4E8A-BE03-8C1863B097B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F70771-9697-434C-9B86-13FC86EADBE2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00  宿主与隔离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82D73E-DE0B-42BA-BC69-CE15B836AE09}"/>
              </a:ext>
            </a:extLst>
          </p:cNvPr>
          <p:cNvSpPr>
            <a:spLocks noGrp="1"/>
          </p:cNvSpPr>
          <p:nvPr/>
        </p:nvSpPr>
        <p:spPr>
          <a:xfrm>
            <a:off x="6286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Windows + WSL2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B397F3-D30A-4140-900B-2F2DD3E66216}"/>
              </a:ext>
            </a:extLst>
          </p:cNvPr>
          <p:cNvSpPr>
            <a:spLocks noGrp="1"/>
          </p:cNvSpPr>
          <p:nvPr/>
        </p:nvSpPr>
        <p:spPr>
          <a:xfrm>
            <a:off x="6286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RX 6650 XT 8GB；用 WSL2 </a:t>
            </a:r>
            <a:r>
              <a:rPr sz="1425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隔离实验环境与日常开发</a:t>
            </a:r>
            <a:r>
              <a:rPr sz="1425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B830DAD-07DA-4271-A5B7-CCF2B1EEB238}"/>
              </a:ext>
            </a:extLst>
          </p:cNvPr>
          <p:cNvSpPr>
            <a:spLocks noGrp="1"/>
          </p:cNvSpPr>
          <p:nvPr/>
        </p:nvSpPr>
        <p:spPr>
          <a:xfrm>
            <a:off x="42481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857294-99C1-4166-9771-240859462F05}"/>
              </a:ext>
            </a:extLst>
          </p:cNvPr>
          <p:cNvSpPr>
            <a:spLocks noGrp="1"/>
          </p:cNvSpPr>
          <p:nvPr/>
        </p:nvSpPr>
        <p:spPr>
          <a:xfrm>
            <a:off x="44767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01  GPU 运行栈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4282A5-1E83-4A9C-AAD8-2EFD42911267}"/>
              </a:ext>
            </a:extLst>
          </p:cNvPr>
          <p:cNvSpPr>
            <a:spLocks noGrp="1"/>
          </p:cNvSpPr>
          <p:nvPr/>
        </p:nvSpPr>
        <p:spPr>
          <a:xfrm>
            <a:off x="44767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Ubuntu + ROCm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3A3086-B26D-4CCA-9959-1114A175CBFC}"/>
              </a:ext>
            </a:extLst>
          </p:cNvPr>
          <p:cNvSpPr>
            <a:spLocks noGrp="1"/>
          </p:cNvSpPr>
          <p:nvPr/>
        </p:nvSpPr>
        <p:spPr>
          <a:xfrm>
            <a:off x="44767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sz="1425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ROCm</a:t>
            </a:r>
            <a:r>
              <a:rPr sz="1425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1425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安装完成</a:t>
            </a:r>
            <a:r>
              <a:rPr sz="1425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；</a:t>
            </a:r>
            <a:endParaRPr lang="en-US" sz="1425" b="0" dirty="0">
              <a:solidFill>
                <a:srgbClr val="111111"/>
              </a:solidFill>
              <a:latin typeface="Noto Sans CJK SC"/>
              <a:ea typeface="Noto Sans CJK SC"/>
              <a:cs typeface="Noto Sans CJK SC"/>
            </a:endParaRPr>
          </a:p>
          <a:p>
            <a:r>
              <a:rPr lang="en-US" altLang="zh-CN" sz="1425" dirty="0">
                <a:solidFill>
                  <a:srgbClr val="111111"/>
                </a:solidFill>
                <a:latin typeface="Noto Sans CJK SC"/>
              </a:rPr>
              <a:t>- </a:t>
            </a:r>
            <a:r>
              <a:rPr lang="zh-CN" altLang="zh-CN" dirty="0"/>
              <a:t>ROCm：7.14.0</a:t>
            </a:r>
          </a:p>
          <a:p>
            <a:r>
              <a:rPr lang="zh-CN" altLang="zh-CN" dirty="0"/>
              <a:t>- PyTorch：2.12.0</a:t>
            </a:r>
          </a:p>
          <a:p>
            <a:r>
              <a:rPr lang="zh-CN" altLang="zh-CN" dirty="0"/>
              <a:t>- </a:t>
            </a:r>
            <a:r>
              <a:rPr lang="en-US" altLang="zh-CN" dirty="0"/>
              <a:t>T</a:t>
            </a:r>
            <a:r>
              <a:rPr lang="zh-CN" altLang="zh-CN" dirty="0"/>
              <a:t>orchvision</a:t>
            </a:r>
            <a:r>
              <a:rPr lang="en-US" altLang="zh-CN" dirty="0"/>
              <a:t>  </a:t>
            </a:r>
            <a:r>
              <a:rPr lang="zh-CN" altLang="zh-CN" dirty="0"/>
              <a:t>0.27.0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2469C2B-FFB7-4CED-B0C1-6855B52C8AB1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EBD8D7-98BB-4280-B922-77086FB24465}"/>
              </a:ext>
            </a:extLst>
          </p:cNvPr>
          <p:cNvSpPr>
            <a:spLocks noGrp="1"/>
          </p:cNvSpPr>
          <p:nvPr/>
        </p:nvSpPr>
        <p:spPr>
          <a:xfrm>
            <a:off x="83248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02  框架路径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929072-751C-4766-A1BB-57ACA144B657}"/>
              </a:ext>
            </a:extLst>
          </p:cNvPr>
          <p:cNvSpPr>
            <a:spLocks noGrp="1"/>
          </p:cNvSpPr>
          <p:nvPr/>
        </p:nvSpPr>
        <p:spPr>
          <a:xfrm>
            <a:off x="83248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PyTorch-HIP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6AFAC0-474E-4300-91C0-8F0B82D8B57C}"/>
              </a:ext>
            </a:extLst>
          </p:cNvPr>
          <p:cNvSpPr>
            <a:spLocks noGrp="1"/>
          </p:cNvSpPr>
          <p:nvPr/>
        </p:nvSpPr>
        <p:spPr>
          <a:xfrm>
            <a:off x="83248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建立</a:t>
            </a:r>
            <a:r>
              <a:rPr sz="1425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1425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PyTorch</a:t>
            </a:r>
            <a:r>
              <a:rPr sz="1425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-HIP </a:t>
            </a:r>
            <a:r>
              <a:rPr sz="1425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路径，为</a:t>
            </a:r>
            <a:r>
              <a:rPr sz="1425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 GPU </a:t>
            </a:r>
            <a:r>
              <a:rPr sz="1425" b="0" dirty="0" err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张量计算与后续实验提供基础</a:t>
            </a:r>
            <a:r>
              <a:rPr sz="1425" b="0" dirty="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1998274-021B-450D-9067-0878F3AC5F2F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1391900" cy="1200150"/>
          </a:xfrm>
          <a:prstGeom prst="roundRect">
            <a:avLst>
              <a:gd name="adj" fmla="val 12698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F6AF6D-0FF5-4F1B-8588-7B8EC16D4B6B}"/>
              </a:ext>
            </a:extLst>
          </p:cNvPr>
          <p:cNvSpPr>
            <a:spLocks noGrp="1"/>
          </p:cNvSpPr>
          <p:nvPr/>
        </p:nvSpPr>
        <p:spPr>
          <a:xfrm>
            <a:off x="628650" y="497205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环境价值 / Why it matters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FCEABC-C675-41DA-9814-289D9721F7F3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6715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减少小实验对云 GPU 的依赖 → 便于迭代、调试与性能测量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469E0A-9F5C-4570-BAE6-C373CB008AF5}"/>
              </a:ext>
            </a:extLst>
          </p:cNvPr>
          <p:cNvSpPr>
            <a:spLocks noGrp="1"/>
          </p:cNvSpPr>
          <p:nvPr/>
        </p:nvSpPr>
        <p:spPr>
          <a:xfrm>
            <a:off x="8477250" y="516255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本地验证</a:t>
            </a:r>
            <a:endParaRPr sz="1575" b="0" dirty="0">
              <a:solidFill>
                <a:srgbClr val="5F6672"/>
              </a:solidFill>
              <a:latin typeface="Noto Sans CJK SC"/>
              <a:ea typeface="Noto Sans CJK SC"/>
              <a:cs typeface="Noto Sans CJK SC"/>
            </a:endParaRPr>
          </a:p>
          <a:p>
            <a:pPr algn="r">
              <a:buNone/>
              <a:def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基准需控版本</a:t>
            </a:r>
            <a:endParaRPr sz="1575" b="0" dirty="0">
              <a:solidFill>
                <a:srgbClr val="5F6672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ECD6F1-8C6F-498C-A1E9-763F6987B9B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82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依据：WSL2 / ROCm 本地安装与验证记录</a:t>
            </a:r>
          </a:p>
        </p:txBody>
      </p:sp>
    </p:spTree>
    <p:extLst>
      <p:ext uri="{BB962C8B-B14F-4D97-AF65-F5344CB8AC3E}">
        <p14:creationId xmlns:p14="http://schemas.microsoft.com/office/powerpoint/2010/main" val="96576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280D3E5-8181-4DAA-8B38-6939E134A14C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OWN VIEW · RESEARCH QUESTION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DEEDC3-4C39-43DE-A3A8-0BB779A772A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我的判断：性能优化首先是“计算分配”问题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F8C1C0F-3961-4453-89E4-1CA803DF4DAC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A93673-4EA1-488A-BBFF-D0D60DA5CE0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38369F-63BF-4154-A5CE-FA7DCC88C137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模型变大不等于计算更有效；视觉</a:t>
            </a:r>
            <a:r>
              <a:rPr sz="15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/ </a:t>
            </a: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多模态模型仍把大量算力平均分给冗余</a:t>
            </a:r>
            <a:r>
              <a:rPr sz="15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Token。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4A943-E414-4075-98F4-0B2A04617956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15E9A-719A-47F6-BBE2-E00E8ED59536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658BE9-6652-4877-9184-AEEE082F264E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核心矛盾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Problem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E225E798-332D-4FAB-A41E-7D651083B886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79874-8107-4FFF-B577-FAD0C920D9A3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低注意力 ≠ 无信息；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小目标、边界和跨模态线索可能恰好关键。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FC96DE-18FB-4170-9142-70B4C04F5D4D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D3BCD-A626-4BC7-AD66-8C97767BD5A4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C39375-6BAA-4D18-A27E-DFD7CD9D30B0}"/>
              </a:ext>
            </a:extLst>
          </p:cNvPr>
          <p:cNvSpPr>
            <a:spLocks noGrp="1"/>
          </p:cNvSpPr>
          <p:nvPr/>
        </p:nvSpPr>
        <p:spPr>
          <a:xfrm>
            <a:off x="453390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工作假设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Hypothesis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0FC7544-B0D6-4BE2-9FA3-43FFA4F1C4EA}"/>
              </a:ext>
            </a:extLst>
          </p:cNvPr>
          <p:cNvSpPr>
            <a:spLocks noGrp="1"/>
          </p:cNvSpPr>
          <p:nvPr/>
        </p:nvSpPr>
        <p:spPr>
          <a:xfrm>
            <a:off x="453390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ABEA79-61E1-4BFC-AF55-02C7564234B0}"/>
              </a:ext>
            </a:extLst>
          </p:cNvPr>
          <p:cNvSpPr>
            <a:spLocks noGrp="1"/>
          </p:cNvSpPr>
          <p:nvPr/>
        </p:nvSpPr>
        <p:spPr>
          <a:xfrm>
            <a:off x="453390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动态筛选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+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信息聚合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/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回收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，</a:t>
            </a:r>
            <a:b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</a:b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可在固定预算下保持甚至提升性能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E42BCF-9DE7-43C1-8A44-E343F49A2C42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F632DB-A3B3-4307-B9B6-E0F4E48DF531}"/>
              </a:ext>
            </a:extLst>
          </p:cNvPr>
          <p:cNvSpPr>
            <a:spLocks noGrp="1"/>
          </p:cNvSpPr>
          <p:nvPr/>
        </p:nvSpPr>
        <p:spPr>
          <a:xfrm>
            <a:off x="84391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580B84-BC45-4676-B6DB-DCC01A53AA15}"/>
              </a:ext>
            </a:extLst>
          </p:cNvPr>
          <p:cNvSpPr>
            <a:spLocks noGrp="1"/>
          </p:cNvSpPr>
          <p:nvPr/>
        </p:nvSpPr>
        <p:spPr>
          <a:xfrm>
            <a:off x="84391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验证方式</a:t>
            </a:r>
            <a:endParaRPr sz="1800" b="1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Evaluation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71E74F3-A767-4C1A-9409-A65A756DAB1C}"/>
              </a:ext>
            </a:extLst>
          </p:cNvPr>
          <p:cNvSpPr>
            <a:spLocks noGrp="1"/>
          </p:cNvSpPr>
          <p:nvPr/>
        </p:nvSpPr>
        <p:spPr>
          <a:xfrm>
            <a:off x="84391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506CB2-D110-4EC6-96E2-2E2A7A9F6C1F}"/>
              </a:ext>
            </a:extLst>
          </p:cNvPr>
          <p:cNvSpPr>
            <a:spLocks noGrp="1"/>
          </p:cNvSpPr>
          <p:nvPr/>
        </p:nvSpPr>
        <p:spPr>
          <a:xfrm>
            <a:off x="84391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任务质量 + FLOPs、显存、延迟、吞吐；</a:t>
            </a:r>
            <a:b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</a:br>
            <a:r>
              <a: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再做跨数据集与失败样例分析。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F4F4F50-4BC3-45D8-9795-8366F88D7FA0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400050"/>
          </a:xfrm>
          <a:prstGeom prst="roundRect">
            <a:avLst>
              <a:gd name="adj" fmla="val 28571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4AC370-8081-4260-8938-B023B3E921E7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11010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dirty="0" err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研究目标：提升每单位计算量带来的有效性能，而不只是让模型“更快</a:t>
            </a:r>
            <a:r>
              <a:rPr sz="1275" b="1" dirty="0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7571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280D3E5-8181-4DAA-8B38-6939E134A14C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D8DFF"/>
                </a:solidFill>
                <a:latin typeface="Noto Sans CJK SC"/>
                <a:ea typeface="Noto Sans CJK SC"/>
                <a:cs typeface="Noto Sans CJK SC"/>
              </a:rPr>
              <a:t>NEXT WEEK · ACTION PLAN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DEEDC3-4C39-43DE-A3A8-0BB779A772A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下一步：把研究判断变成可验证的小实验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F8C1C0F-3961-4453-89E4-1CA803DF4DAC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A93673-4EA1-488A-BBFF-D0D60DA5CE0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38369F-63BF-4154-A5CE-FA7DCC88C137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沿着“可信基线</a:t>
            </a:r>
            <a:r>
              <a:rPr sz="15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→ </a:t>
            </a: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瓶颈测量</a:t>
            </a:r>
            <a:r>
              <a:rPr sz="15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→ </a:t>
            </a:r>
            <a:r>
              <a:rPr sz="15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单变量优化”推进，先做能够解释的公平对照</a:t>
            </a:r>
            <a:r>
              <a:rPr sz="15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4A943-E414-4075-98F4-0B2A04617956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15E9A-719A-47F6-BBE2-E00E8ED59536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658BE9-6652-4877-9184-AEEE082F264E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基线归档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Baseline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E225E798-332D-4FAB-A41E-7D651083B886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79874-8107-4FFF-B577-FAD0C920D9A3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固定数据、seed、命令与环境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整理复现指标、耗时和显存表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FC96DE-18FB-4170-9142-70B4C04F5D4D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D3BCD-A626-4BC7-AD66-8C97767BD5A4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C39375-6BAA-4D18-A27E-DFD7CD9D30B0}"/>
              </a:ext>
            </a:extLst>
          </p:cNvPr>
          <p:cNvSpPr>
            <a:spLocks noGrp="1"/>
          </p:cNvSpPr>
          <p:nvPr/>
        </p:nvSpPr>
        <p:spPr>
          <a:xfrm>
            <a:off x="453390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瓶颈分析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Profiling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0FC7544-B0D6-4BE2-9FA3-43FFA4F1C4EA}"/>
              </a:ext>
            </a:extLst>
          </p:cNvPr>
          <p:cNvSpPr>
            <a:spLocks noGrp="1"/>
          </p:cNvSpPr>
          <p:nvPr/>
        </p:nvSpPr>
        <p:spPr>
          <a:xfrm>
            <a:off x="453390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ABEA79-61E1-4BFC-AF55-02C7564234B0}"/>
              </a:ext>
            </a:extLst>
          </p:cNvPr>
          <p:cNvSpPr>
            <a:spLocks noGrp="1"/>
          </p:cNvSpPr>
          <p:nvPr/>
        </p:nvSpPr>
        <p:spPr>
          <a:xfrm>
            <a:off x="453390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统计层间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Token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数、注意力分布和延迟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定位真正的冗余计算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E42BCF-9DE7-43C1-8A44-E343F49A2C42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F632DB-A3B3-4307-B9B6-E0F4E48DF531}"/>
              </a:ext>
            </a:extLst>
          </p:cNvPr>
          <p:cNvSpPr>
            <a:spLocks noGrp="1"/>
          </p:cNvSpPr>
          <p:nvPr/>
        </p:nvSpPr>
        <p:spPr>
          <a:xfrm>
            <a:off x="84391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580B84-BC45-4676-B6DB-DCC01A53AA15}"/>
              </a:ext>
            </a:extLst>
          </p:cNvPr>
          <p:cNvSpPr>
            <a:spLocks noGrp="1"/>
          </p:cNvSpPr>
          <p:nvPr/>
        </p:nvSpPr>
        <p:spPr>
          <a:xfrm>
            <a:off x="84391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最小实验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Prototype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71E74F3-A767-4C1A-9409-A65A756DAB1C}"/>
              </a:ext>
            </a:extLst>
          </p:cNvPr>
          <p:cNvSpPr>
            <a:spLocks noGrp="1"/>
          </p:cNvSpPr>
          <p:nvPr/>
        </p:nvSpPr>
        <p:spPr>
          <a:xfrm>
            <a:off x="84391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506CB2-D110-4EC6-96E2-2E2A7A9F6C1F}"/>
              </a:ext>
            </a:extLst>
          </p:cNvPr>
          <p:cNvSpPr>
            <a:spLocks noGrp="1"/>
          </p:cNvSpPr>
          <p:nvPr/>
        </p:nvSpPr>
        <p:spPr>
          <a:xfrm>
            <a:off x="84391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对比注意力剪枝、Token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 </a:t>
            </a: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合并与任务感知筛选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dirty="0" err="1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固定计算预算</a:t>
            </a:r>
            <a:r>
              <a:rPr sz="1275" b="0" dirty="0">
                <a:solidFill>
                  <a:srgbClr val="5F6672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275713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831</Words>
  <Application>Microsoft Office PowerPoint</Application>
  <DocSecurity>0</DocSecurity>
  <PresentationFormat>宽屏</PresentationFormat>
  <Paragraphs>174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Noto Sans CJK SC</vt:lpstr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485207566@qq.com</cp:lastModifiedBy>
  <cp:revision>11</cp:revision>
  <dcterms:created xsi:type="dcterms:W3CDTF">2026-08-16T04:55:10Z</dcterms:created>
  <dcterms:modified xsi:type="dcterms:W3CDTF">2026-08-16T10:29:36Z</dcterms:modified>
</cp:coreProperties>
</file>